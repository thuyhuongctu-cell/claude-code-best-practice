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</p:sldIdLst>
  <p:sldSz cx="18288000" cy="10287000"/>
  <p:notesSz cx="6858000" cy="9144000"/>
  <p:embeddedFontLst>
    <p:embeddedFont>
      <p:font typeface="Roboto" charset="0"/>
      <p:bold r:id="rId14"/>
      <p:boldItalic r:id="rId15"/>
    </p:embeddedFon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3vgPPzlDR5id04RzYuzVcscII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E0F7F910-62E2-467A-A3EA-7CB14D2E1E0A}">
  <a:tblStyle styleId="{E0F7F910-62E2-467A-A3EA-7CB14D2E1E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-537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customschemas.google.com/relationships/presentationmetadata" Target="meta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85298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7.jpg"/><Relationship Id="rId5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3.png"/><Relationship Id="rId9" Type="http://schemas.openxmlformats.org/officeDocument/2006/relationships/image" Target="../media/image8.png"/><Relationship Id="rId10" Type="http://schemas.openxmlformats.org/officeDocument/2006/relationships/image" Target="../media/image2.png"/><Relationship Id="rId11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424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 rot="5400000">
            <a:off x="17110809" y="8144837"/>
            <a:ext cx="586784" cy="1553028"/>
            <a:chOff x="0" y="-47625"/>
            <a:chExt cx="103692" cy="274439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03692" cy="226814"/>
            </a:xfrm>
            <a:custGeom>
              <a:avLst/>
              <a:gdLst/>
              <a:ahLst/>
              <a:cxnLst/>
              <a:rect l="l" t="t" r="r" b="b"/>
              <a:pathLst>
                <a:path w="103692" h="226814" extrusionOk="0">
                  <a:moveTo>
                    <a:pt x="51846" y="0"/>
                  </a:moveTo>
                  <a:lnTo>
                    <a:pt x="51846" y="0"/>
                  </a:lnTo>
                  <a:cubicBezTo>
                    <a:pt x="80480" y="0"/>
                    <a:pt x="103692" y="23212"/>
                    <a:pt x="103692" y="51846"/>
                  </a:cubicBezTo>
                  <a:lnTo>
                    <a:pt x="103692" y="174968"/>
                  </a:lnTo>
                  <a:cubicBezTo>
                    <a:pt x="103692" y="188718"/>
                    <a:pt x="98229" y="201906"/>
                    <a:pt x="88507" y="211629"/>
                  </a:cubicBezTo>
                  <a:cubicBezTo>
                    <a:pt x="78784" y="221352"/>
                    <a:pt x="65596" y="226814"/>
                    <a:pt x="51846" y="226814"/>
                  </a:cubicBezTo>
                  <a:lnTo>
                    <a:pt x="51846" y="226814"/>
                  </a:lnTo>
                  <a:cubicBezTo>
                    <a:pt x="38096" y="226814"/>
                    <a:pt x="24908" y="221352"/>
                    <a:pt x="15185" y="211629"/>
                  </a:cubicBezTo>
                  <a:cubicBezTo>
                    <a:pt x="5462" y="201906"/>
                    <a:pt x="0" y="188718"/>
                    <a:pt x="0" y="174968"/>
                  </a:cubicBezTo>
                  <a:lnTo>
                    <a:pt x="0" y="51846"/>
                  </a:lnTo>
                  <a:cubicBezTo>
                    <a:pt x="0" y="38096"/>
                    <a:pt x="5462" y="24908"/>
                    <a:pt x="15185" y="15185"/>
                  </a:cubicBezTo>
                  <a:cubicBezTo>
                    <a:pt x="24908" y="5462"/>
                    <a:pt x="38096" y="0"/>
                    <a:pt x="51846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103692" cy="274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7093636" y="8765286"/>
            <a:ext cx="636457" cy="312129"/>
          </a:xfrm>
          <a:custGeom>
            <a:avLst/>
            <a:gdLst/>
            <a:ahLst/>
            <a:cxnLst/>
            <a:rect l="l" t="t" r="r" b="b"/>
            <a:pathLst>
              <a:path w="636457" h="312129" extrusionOk="0">
                <a:moveTo>
                  <a:pt x="0" y="0"/>
                </a:moveTo>
                <a:lnTo>
                  <a:pt x="636457" y="0"/>
                </a:lnTo>
                <a:lnTo>
                  <a:pt x="636457" y="312129"/>
                </a:lnTo>
                <a:lnTo>
                  <a:pt x="0" y="312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5486400" y="5143500"/>
            <a:ext cx="7315200" cy="185928"/>
          </a:xfrm>
          <a:custGeom>
            <a:avLst/>
            <a:gdLst/>
            <a:ahLst/>
            <a:cxnLst/>
            <a:rect l="l" t="t" r="r" b="b"/>
            <a:pathLst>
              <a:path w="7315200" h="185928" extrusionOk="0">
                <a:moveTo>
                  <a:pt x="0" y="0"/>
                </a:moveTo>
                <a:lnTo>
                  <a:pt x="7315200" y="0"/>
                </a:lnTo>
                <a:lnTo>
                  <a:pt x="7315200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1167947" y="7023032"/>
            <a:ext cx="584911" cy="466467"/>
          </a:xfrm>
          <a:custGeom>
            <a:avLst/>
            <a:gdLst/>
            <a:ahLst/>
            <a:cxnLst/>
            <a:rect l="l" t="t" r="r" b="b"/>
            <a:pathLst>
              <a:path w="584911" h="466467" extrusionOk="0">
                <a:moveTo>
                  <a:pt x="0" y="0"/>
                </a:moveTo>
                <a:lnTo>
                  <a:pt x="584912" y="0"/>
                </a:lnTo>
                <a:lnTo>
                  <a:pt x="584912" y="466466"/>
                </a:lnTo>
                <a:lnTo>
                  <a:pt x="0" y="466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167947" y="7951728"/>
            <a:ext cx="561989" cy="425004"/>
          </a:xfrm>
          <a:custGeom>
            <a:avLst/>
            <a:gdLst/>
            <a:ahLst/>
            <a:cxnLst/>
            <a:rect l="l" t="t" r="r" b="b"/>
            <a:pathLst>
              <a:path w="561989" h="425004" extrusionOk="0">
                <a:moveTo>
                  <a:pt x="0" y="0"/>
                </a:moveTo>
                <a:lnTo>
                  <a:pt x="561990" y="0"/>
                </a:lnTo>
                <a:lnTo>
                  <a:pt x="561990" y="425005"/>
                </a:lnTo>
                <a:lnTo>
                  <a:pt x="0" y="425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253735" y="8706108"/>
            <a:ext cx="356164" cy="552192"/>
          </a:xfrm>
          <a:custGeom>
            <a:avLst/>
            <a:gdLst/>
            <a:ahLst/>
            <a:cxnLst/>
            <a:rect l="l" t="t" r="r" b="b"/>
            <a:pathLst>
              <a:path w="356164" h="552192" extrusionOk="0">
                <a:moveTo>
                  <a:pt x="0" y="0"/>
                </a:moveTo>
                <a:lnTo>
                  <a:pt x="356164" y="0"/>
                </a:lnTo>
                <a:lnTo>
                  <a:pt x="356164" y="552192"/>
                </a:lnTo>
                <a:lnTo>
                  <a:pt x="0" y="552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9" name="Google Shape;99;p1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13868399" y="6183888"/>
            <a:ext cx="3691585" cy="3379212"/>
          </a:xfrm>
          <a:custGeom>
            <a:avLst/>
            <a:gdLst/>
            <a:ahLst/>
            <a:cxnLst/>
            <a:rect l="l" t="t" r="r" b="b"/>
            <a:pathLst>
              <a:path w="5247142" h="5122522" extrusionOk="0">
                <a:moveTo>
                  <a:pt x="0" y="0"/>
                </a:moveTo>
                <a:lnTo>
                  <a:pt x="5247142" y="0"/>
                </a:lnTo>
                <a:lnTo>
                  <a:pt x="5247142" y="5122522"/>
                </a:lnTo>
                <a:lnTo>
                  <a:pt x="0" y="5122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6" name="Google Shape;106;p1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"/>
          <p:cNvSpPr txBox="1"/>
          <p:nvPr/>
        </p:nvSpPr>
        <p:spPr>
          <a:xfrm>
            <a:off x="1864602" y="2487301"/>
            <a:ext cx="1476308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 smtClean="0">
                <a:solidFill>
                  <a:srgbClr val="FFFFFF"/>
                </a:solidFill>
                <a:latin typeface="+mj-lt"/>
                <a:ea typeface="Roboto"/>
                <a:sym typeface="Roboto"/>
              </a:rPr>
              <a:t>KỸ NĂNG GIAO TIẾP VÀ SOẠN THẢO VĂN BẢN</a:t>
            </a:r>
            <a:endParaRPr dirty="0">
              <a:latin typeface="+mj-lt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3250604" y="3848100"/>
            <a:ext cx="1135185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1"/>
          <p:cNvSpPr txBox="1"/>
          <p:nvPr/>
        </p:nvSpPr>
        <p:spPr>
          <a:xfrm>
            <a:off x="1990853" y="7039233"/>
            <a:ext cx="905876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Bộ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môn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Kinh</a:t>
            </a:r>
            <a:r>
              <a:rPr lang="en-US" sz="2700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tế</a:t>
            </a:r>
            <a:endParaRPr dirty="0"/>
          </a:p>
        </p:txBody>
      </p:sp>
      <p:sp>
        <p:nvSpPr>
          <p:cNvPr id="113" name="Google Shape;113;p1"/>
          <p:cNvSpPr txBox="1"/>
          <p:nvPr/>
        </p:nvSpPr>
        <p:spPr>
          <a:xfrm>
            <a:off x="1990853" y="7894578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Khoa: Kinh tế - Luật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1990853" y="8749923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8994595" y="96052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612388" y="9702991"/>
            <a:ext cx="9058764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-34274" y="-34151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3962400" y="1044402"/>
            <a:ext cx="10820400" cy="1457539"/>
            <a:chOff x="0" y="-47625"/>
            <a:chExt cx="2140304" cy="383879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2140304" cy="336254"/>
            </a:xfrm>
            <a:custGeom>
              <a:avLst/>
              <a:gdLst/>
              <a:ahLst/>
              <a:cxnLst/>
              <a:rect l="l" t="t" r="r" b="b"/>
              <a:pathLst>
                <a:path w="2140304" h="336254" extrusionOk="0">
                  <a:moveTo>
                    <a:pt x="16196" y="0"/>
                  </a:moveTo>
                  <a:lnTo>
                    <a:pt x="2124108" y="0"/>
                  </a:lnTo>
                  <a:cubicBezTo>
                    <a:pt x="2128403" y="0"/>
                    <a:pt x="2132523" y="1706"/>
                    <a:pt x="2135560" y="4744"/>
                  </a:cubicBezTo>
                  <a:cubicBezTo>
                    <a:pt x="2138597" y="7781"/>
                    <a:pt x="2140304" y="11900"/>
                    <a:pt x="2140304" y="16196"/>
                  </a:cubicBezTo>
                  <a:lnTo>
                    <a:pt x="2140304" y="320058"/>
                  </a:lnTo>
                  <a:cubicBezTo>
                    <a:pt x="2140304" y="324353"/>
                    <a:pt x="2138597" y="328473"/>
                    <a:pt x="2135560" y="331510"/>
                  </a:cubicBezTo>
                  <a:cubicBezTo>
                    <a:pt x="2132523" y="334547"/>
                    <a:pt x="2128403" y="336254"/>
                    <a:pt x="2124108" y="336254"/>
                  </a:cubicBezTo>
                  <a:lnTo>
                    <a:pt x="16196" y="336254"/>
                  </a:lnTo>
                  <a:cubicBezTo>
                    <a:pt x="7251" y="336254"/>
                    <a:pt x="0" y="329003"/>
                    <a:pt x="0" y="320058"/>
                  </a:cubicBezTo>
                  <a:lnTo>
                    <a:pt x="0" y="16196"/>
                  </a:lnTo>
                  <a:cubicBezTo>
                    <a:pt x="0" y="11900"/>
                    <a:pt x="1706" y="7781"/>
                    <a:pt x="4744" y="4744"/>
                  </a:cubicBezTo>
                  <a:cubicBezTo>
                    <a:pt x="7781" y="1706"/>
                    <a:pt x="11900" y="0"/>
                    <a:pt x="16196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47625"/>
              <a:ext cx="2140304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4326519" y="1394670"/>
            <a:ext cx="904060" cy="857727"/>
          </a:xfrm>
          <a:custGeom>
            <a:avLst/>
            <a:gdLst/>
            <a:ahLst/>
            <a:cxnLst/>
            <a:rect l="l" t="t" r="r" b="b"/>
            <a:pathLst>
              <a:path w="904060" h="857727" extrusionOk="0">
                <a:moveTo>
                  <a:pt x="0" y="0"/>
                </a:moveTo>
                <a:lnTo>
                  <a:pt x="904060" y="0"/>
                </a:lnTo>
                <a:lnTo>
                  <a:pt x="904060" y="857727"/>
                </a:lnTo>
                <a:lnTo>
                  <a:pt x="0" y="857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1603725" y="4462563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2"/>
          <p:cNvCxnSpPr/>
          <p:nvPr/>
        </p:nvCxnSpPr>
        <p:spPr>
          <a:xfrm>
            <a:off x="5897880" y="27813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2"/>
          <p:cNvCxnSpPr/>
          <p:nvPr/>
        </p:nvCxnSpPr>
        <p:spPr>
          <a:xfrm>
            <a:off x="9144000" y="4223917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2"/>
          <p:cNvSpPr/>
          <p:nvPr/>
        </p:nvSpPr>
        <p:spPr>
          <a:xfrm>
            <a:off x="1603725" y="5434798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1603725" y="640663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5410200" y="1444484"/>
            <a:ext cx="9906000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TIÊU HỌC PHẦN/CHƯƠNG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2506246" y="44948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Hiểu được khái niệm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2506246" y="5473993"/>
            <a:ext cx="5401696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Phân tích được nội dung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2506246" y="644582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Vận dụng vào thực tiễn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1603725" y="737846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2"/>
          <p:cNvSpPr txBox="1"/>
          <p:nvPr/>
        </p:nvSpPr>
        <p:spPr>
          <a:xfrm>
            <a:off x="2506246" y="7424996"/>
            <a:ext cx="356173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Giải quyết tình huống nghề nghiệp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10043901" y="4060809"/>
            <a:ext cx="7120190" cy="4930732"/>
          </a:xfrm>
          <a:custGeom>
            <a:avLst/>
            <a:gdLst/>
            <a:ahLst/>
            <a:cxnLst/>
            <a:rect l="l" t="t" r="r" b="b"/>
            <a:pathLst>
              <a:path w="7120190" h="4930732" extrusionOk="0">
                <a:moveTo>
                  <a:pt x="0" y="0"/>
                </a:moveTo>
                <a:lnTo>
                  <a:pt x="7120190" y="0"/>
                </a:lnTo>
                <a:lnTo>
                  <a:pt x="7120190" y="4930732"/>
                </a:lnTo>
                <a:lnTo>
                  <a:pt x="0" y="4930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8" name="Google Shape;148;p2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2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59209" y="0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3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0" name="Google Shape;160;p3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3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5" name="Google Shape;165;p3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3883202" y="1255649"/>
            <a:ext cx="11280598" cy="1457539"/>
            <a:chOff x="-137192" y="-47625"/>
            <a:chExt cx="2467893" cy="383879"/>
          </a:xfrm>
        </p:grpSpPr>
        <p:sp>
          <p:nvSpPr>
            <p:cNvPr id="169" name="Google Shape;169;p3"/>
            <p:cNvSpPr/>
            <p:nvPr/>
          </p:nvSpPr>
          <p:spPr>
            <a:xfrm>
              <a:off x="-137192" y="0"/>
              <a:ext cx="2467893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1" name="Google Shape;171;p3"/>
          <p:cNvCxnSpPr/>
          <p:nvPr/>
        </p:nvCxnSpPr>
        <p:spPr>
          <a:xfrm>
            <a:off x="6146416" y="29337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3"/>
          <p:cNvSpPr/>
          <p:nvPr/>
        </p:nvSpPr>
        <p:spPr>
          <a:xfrm>
            <a:off x="4171991" y="1658458"/>
            <a:ext cx="1009452" cy="716711"/>
          </a:xfrm>
          <a:custGeom>
            <a:avLst/>
            <a:gdLst/>
            <a:ahLst/>
            <a:cxnLst/>
            <a:rect l="l" t="t" r="r" b="b"/>
            <a:pathLst>
              <a:path w="1009452" h="716711" extrusionOk="0">
                <a:moveTo>
                  <a:pt x="0" y="0"/>
                </a:moveTo>
                <a:lnTo>
                  <a:pt x="1009452" y="0"/>
                </a:lnTo>
                <a:lnTo>
                  <a:pt x="1009452" y="716711"/>
                </a:lnTo>
                <a:lnTo>
                  <a:pt x="0" y="716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3" name="Google Shape;173;p3"/>
          <p:cNvGrpSpPr/>
          <p:nvPr/>
        </p:nvGrpSpPr>
        <p:grpSpPr>
          <a:xfrm>
            <a:off x="1451168" y="3873784"/>
            <a:ext cx="688429" cy="688429"/>
            <a:chOff x="0" y="0"/>
            <a:chExt cx="812800" cy="812800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475996" y="4982975"/>
            <a:ext cx="688429" cy="688429"/>
            <a:chOff x="0" y="0"/>
            <a:chExt cx="812800" cy="8128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1522086" y="6134690"/>
            <a:ext cx="688429" cy="688429"/>
            <a:chOff x="0" y="0"/>
            <a:chExt cx="812800" cy="8128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1522086" y="7289845"/>
            <a:ext cx="688429" cy="688429"/>
            <a:chOff x="0" y="0"/>
            <a:chExt cx="812800" cy="81280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1522086" y="8483099"/>
            <a:ext cx="688429" cy="688429"/>
            <a:chOff x="0" y="0"/>
            <a:chExt cx="812800" cy="8128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3"/>
          <p:cNvSpPr/>
          <p:nvPr/>
        </p:nvSpPr>
        <p:spPr>
          <a:xfrm>
            <a:off x="10043901" y="4157032"/>
            <a:ext cx="7554796" cy="5014496"/>
          </a:xfrm>
          <a:custGeom>
            <a:avLst/>
            <a:gdLst/>
            <a:ahLst/>
            <a:cxnLst/>
            <a:rect l="l" t="t" r="r" b="b"/>
            <a:pathLst>
              <a:path w="7554796" h="5014496" extrusionOk="0">
                <a:moveTo>
                  <a:pt x="0" y="0"/>
                </a:moveTo>
                <a:lnTo>
                  <a:pt x="7554795" y="0"/>
                </a:lnTo>
                <a:lnTo>
                  <a:pt x="7554795" y="5014496"/>
                </a:lnTo>
                <a:lnTo>
                  <a:pt x="0" y="501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3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5519751" y="1619706"/>
            <a:ext cx="10453766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HỌC PHẦN / CHƯƠNG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607633" y="3885650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2532103" y="3992766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nhất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1632461" y="499484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1678551" y="6146556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1678551" y="730171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1678551" y="8494965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2532103" y="504993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hai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2552154" y="617410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ba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2532103" y="73292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tư</a:t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2532103" y="845320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thứ năm</a:t>
            </a:r>
            <a:endParaRPr/>
          </a:p>
        </p:txBody>
      </p:sp>
      <p:grpSp>
        <p:nvGrpSpPr>
          <p:cNvPr id="202" name="Google Shape;202;p3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03" name="Google Shape;203;p3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04" name="Google Shape;204;p3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3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4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212" name="Google Shape;212;p4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4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4" name="Google Shape;214;p4"/>
          <p:cNvSpPr/>
          <p:nvPr/>
        </p:nvSpPr>
        <p:spPr>
          <a:xfrm>
            <a:off x="4719312" y="2819806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5" name="Google Shape;215;p4"/>
          <p:cNvGrpSpPr/>
          <p:nvPr/>
        </p:nvGrpSpPr>
        <p:grpSpPr>
          <a:xfrm>
            <a:off x="3109328" y="1513664"/>
            <a:ext cx="12368154" cy="1457539"/>
            <a:chOff x="0" y="-47625"/>
            <a:chExt cx="3257456" cy="383879"/>
          </a:xfrm>
        </p:grpSpPr>
        <p:sp>
          <p:nvSpPr>
            <p:cNvPr id="216" name="Google Shape;216;p4"/>
            <p:cNvSpPr/>
            <p:nvPr/>
          </p:nvSpPr>
          <p:spPr>
            <a:xfrm>
              <a:off x="0" y="0"/>
              <a:ext cx="3257456" cy="336254"/>
            </a:xfrm>
            <a:custGeom>
              <a:avLst/>
              <a:gdLst/>
              <a:ahLst/>
              <a:cxnLst/>
              <a:rect l="l" t="t" r="r" b="b"/>
              <a:pathLst>
                <a:path w="3257456" h="336254" extrusionOk="0">
                  <a:moveTo>
                    <a:pt x="10641" y="0"/>
                  </a:moveTo>
                  <a:lnTo>
                    <a:pt x="3246815" y="0"/>
                  </a:lnTo>
                  <a:cubicBezTo>
                    <a:pt x="3249637" y="0"/>
                    <a:pt x="3252344" y="1121"/>
                    <a:pt x="3254339" y="3117"/>
                  </a:cubicBezTo>
                  <a:cubicBezTo>
                    <a:pt x="3256335" y="5112"/>
                    <a:pt x="3257456" y="7819"/>
                    <a:pt x="3257456" y="10641"/>
                  </a:cubicBezTo>
                  <a:lnTo>
                    <a:pt x="3257456" y="325612"/>
                  </a:lnTo>
                  <a:cubicBezTo>
                    <a:pt x="3257456" y="331489"/>
                    <a:pt x="3252692" y="336254"/>
                    <a:pt x="3246815" y="336254"/>
                  </a:cubicBezTo>
                  <a:lnTo>
                    <a:pt x="10641" y="336254"/>
                  </a:lnTo>
                  <a:cubicBezTo>
                    <a:pt x="4764" y="336254"/>
                    <a:pt x="0" y="331489"/>
                    <a:pt x="0" y="325612"/>
                  </a:cubicBezTo>
                  <a:lnTo>
                    <a:pt x="0" y="10641"/>
                  </a:lnTo>
                  <a:cubicBezTo>
                    <a:pt x="0" y="7819"/>
                    <a:pt x="1121" y="5112"/>
                    <a:pt x="3117" y="3117"/>
                  </a:cubicBezTo>
                  <a:cubicBezTo>
                    <a:pt x="5112" y="1121"/>
                    <a:pt x="7819" y="0"/>
                    <a:pt x="10641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0" y="-47625"/>
              <a:ext cx="3257456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4"/>
          <p:cNvSpPr txBox="1"/>
          <p:nvPr/>
        </p:nvSpPr>
        <p:spPr>
          <a:xfrm>
            <a:off x="2231291" y="1934031"/>
            <a:ext cx="14141653" cy="759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3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PHƯƠNG PHÁP GIẢNG DẠY VÀ HỌC TẬP</a:t>
            </a:r>
            <a:endParaRPr/>
          </a:p>
        </p:txBody>
      </p:sp>
      <p:grpSp>
        <p:nvGrpSpPr>
          <p:cNvPr id="219" name="Google Shape;219;p4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20" name="Google Shape;220;p4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1" name="Google Shape;221;p4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4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23" name="Google Shape;223;p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4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27" name="Google Shape;227;p4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4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/>
          </a:p>
        </p:txBody>
      </p:sp>
      <p:sp>
        <p:nvSpPr>
          <p:cNvPr id="229" name="Google Shape;229;p4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grpSp>
        <p:nvGrpSpPr>
          <p:cNvPr id="230" name="Google Shape;230;p4"/>
          <p:cNvGrpSpPr/>
          <p:nvPr/>
        </p:nvGrpSpPr>
        <p:grpSpPr>
          <a:xfrm>
            <a:off x="11181559" y="2552700"/>
            <a:ext cx="13343213" cy="13341323"/>
            <a:chOff x="-470942" y="-533427"/>
            <a:chExt cx="1207542" cy="1270027"/>
          </a:xfrm>
        </p:grpSpPr>
        <p:sp>
          <p:nvSpPr>
            <p:cNvPr id="231" name="Google Shape;231;p4"/>
            <p:cNvSpPr/>
            <p:nvPr/>
          </p:nvSpPr>
          <p:spPr>
            <a:xfrm>
              <a:off x="-470942" y="-533427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B805">
                <a:alpha val="1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4"/>
          <p:cNvSpPr/>
          <p:nvPr/>
        </p:nvSpPr>
        <p:spPr>
          <a:xfrm>
            <a:off x="13259958" y="3256557"/>
            <a:ext cx="4481564" cy="5827243"/>
          </a:xfrm>
          <a:custGeom>
            <a:avLst/>
            <a:gdLst/>
            <a:ahLst/>
            <a:cxnLst/>
            <a:rect l="l" t="t" r="r" b="b"/>
            <a:pathLst>
              <a:path w="980550" h="1274980" extrusionOk="0">
                <a:moveTo>
                  <a:pt x="39733" y="0"/>
                </a:moveTo>
                <a:lnTo>
                  <a:pt x="940818" y="0"/>
                </a:lnTo>
                <a:cubicBezTo>
                  <a:pt x="962761" y="0"/>
                  <a:pt x="980550" y="17789"/>
                  <a:pt x="980550" y="39733"/>
                </a:cubicBezTo>
                <a:lnTo>
                  <a:pt x="980550" y="1235248"/>
                </a:lnTo>
                <a:cubicBezTo>
                  <a:pt x="980550" y="1257191"/>
                  <a:pt x="962761" y="1274980"/>
                  <a:pt x="940818" y="1274980"/>
                </a:cubicBezTo>
                <a:lnTo>
                  <a:pt x="39733" y="1274980"/>
                </a:lnTo>
                <a:cubicBezTo>
                  <a:pt x="17789" y="1274980"/>
                  <a:pt x="0" y="1257191"/>
                  <a:pt x="0" y="1235248"/>
                </a:cubicBezTo>
                <a:lnTo>
                  <a:pt x="0" y="39733"/>
                </a:lnTo>
                <a:cubicBezTo>
                  <a:pt x="0" y="17789"/>
                  <a:pt x="17789" y="0"/>
                  <a:pt x="39733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255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"/>
          <p:cNvSpPr txBox="1"/>
          <p:nvPr/>
        </p:nvSpPr>
        <p:spPr>
          <a:xfrm>
            <a:off x="1702933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236" name="Google Shape;236;p4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"/>
          <p:cNvSpPr/>
          <p:nvPr/>
        </p:nvSpPr>
        <p:spPr>
          <a:xfrm>
            <a:off x="4719313" y="277935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42" name="Google Shape;242;p5"/>
          <p:cNvGrpSpPr/>
          <p:nvPr/>
        </p:nvGrpSpPr>
        <p:grpSpPr>
          <a:xfrm>
            <a:off x="3100615" y="1735300"/>
            <a:ext cx="12368154" cy="1457539"/>
            <a:chOff x="0" y="-47625"/>
            <a:chExt cx="3257456" cy="383879"/>
          </a:xfrm>
        </p:grpSpPr>
        <p:sp>
          <p:nvSpPr>
            <p:cNvPr id="243" name="Google Shape;243;p5"/>
            <p:cNvSpPr/>
            <p:nvPr/>
          </p:nvSpPr>
          <p:spPr>
            <a:xfrm>
              <a:off x="0" y="0"/>
              <a:ext cx="3257456" cy="336254"/>
            </a:xfrm>
            <a:custGeom>
              <a:avLst/>
              <a:gdLst/>
              <a:ahLst/>
              <a:cxnLst/>
              <a:rect l="l" t="t" r="r" b="b"/>
              <a:pathLst>
                <a:path w="3257456" h="336254" extrusionOk="0">
                  <a:moveTo>
                    <a:pt x="10641" y="0"/>
                  </a:moveTo>
                  <a:lnTo>
                    <a:pt x="3246815" y="0"/>
                  </a:lnTo>
                  <a:cubicBezTo>
                    <a:pt x="3249637" y="0"/>
                    <a:pt x="3252344" y="1121"/>
                    <a:pt x="3254339" y="3117"/>
                  </a:cubicBezTo>
                  <a:cubicBezTo>
                    <a:pt x="3256335" y="5112"/>
                    <a:pt x="3257456" y="7819"/>
                    <a:pt x="3257456" y="10641"/>
                  </a:cubicBezTo>
                  <a:lnTo>
                    <a:pt x="3257456" y="325612"/>
                  </a:lnTo>
                  <a:cubicBezTo>
                    <a:pt x="3257456" y="331489"/>
                    <a:pt x="3252692" y="336254"/>
                    <a:pt x="3246815" y="336254"/>
                  </a:cubicBezTo>
                  <a:lnTo>
                    <a:pt x="10641" y="336254"/>
                  </a:lnTo>
                  <a:cubicBezTo>
                    <a:pt x="4764" y="336254"/>
                    <a:pt x="0" y="331489"/>
                    <a:pt x="0" y="325612"/>
                  </a:cubicBezTo>
                  <a:lnTo>
                    <a:pt x="0" y="10641"/>
                  </a:lnTo>
                  <a:cubicBezTo>
                    <a:pt x="0" y="7819"/>
                    <a:pt x="1121" y="5112"/>
                    <a:pt x="3117" y="3117"/>
                  </a:cubicBezTo>
                  <a:cubicBezTo>
                    <a:pt x="5112" y="1121"/>
                    <a:pt x="7819" y="0"/>
                    <a:pt x="10641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5"/>
            <p:cNvSpPr txBox="1"/>
            <p:nvPr/>
          </p:nvSpPr>
          <p:spPr>
            <a:xfrm>
              <a:off x="0" y="-47625"/>
              <a:ext cx="3257456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45" name="Google Shape;245;p5"/>
          <p:cNvGraphicFramePr/>
          <p:nvPr/>
        </p:nvGraphicFramePr>
        <p:xfrm>
          <a:off x="1028700" y="3469064"/>
          <a:ext cx="16230600" cy="5379350"/>
        </p:xfrm>
        <a:graphic>
          <a:graphicData uri="http://schemas.openxmlformats.org/drawingml/2006/table">
            <a:tbl>
              <a:tblPr>
                <a:noFill/>
                <a:tableStyleId>{E0F7F910-62E2-467A-A3EA-7CB14D2E1E0A}</a:tableStyleId>
              </a:tblPr>
              <a:tblGrid>
                <a:gridCol w="5561525"/>
                <a:gridCol w="5900500"/>
                <a:gridCol w="4768575"/>
              </a:tblGrid>
              <a:tr h="1570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127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4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40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5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90500" marR="190500" marT="190500" marB="190500" anchor="ctr">
                    <a:lnL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E6B2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6" name="Google Shape;246;p5"/>
          <p:cNvSpPr txBox="1"/>
          <p:nvPr/>
        </p:nvSpPr>
        <p:spPr>
          <a:xfrm>
            <a:off x="2222578" y="2155667"/>
            <a:ext cx="14141653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PHƯƠNG PHÁP KIỂM TRA ĐÁNH GIÁ</a:t>
            </a:r>
            <a:endParaRPr/>
          </a:p>
        </p:txBody>
      </p:sp>
      <p:grpSp>
        <p:nvGrpSpPr>
          <p:cNvPr id="247" name="Google Shape;247;p5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48" name="Google Shape;248;p5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49" name="Google Shape;249;p5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5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51" name="Google Shape;251;p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5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54" name="Google Shape;254;p5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55" name="Google Shape;255;p5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5"/>
          <p:cNvSpPr txBox="1"/>
          <p:nvPr/>
        </p:nvSpPr>
        <p:spPr>
          <a:xfrm>
            <a:off x="8951416" y="9649968"/>
            <a:ext cx="385167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257" name="Google Shape;257;p5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258" name="Google Shape;258;p5"/>
          <p:cNvSpPr txBox="1"/>
          <p:nvPr/>
        </p:nvSpPr>
        <p:spPr>
          <a:xfrm>
            <a:off x="1351928" y="393345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NỘI DUNG ĐÁNH GIÁ</a:t>
            </a:r>
            <a:endParaRPr/>
          </a:p>
        </p:txBody>
      </p:sp>
      <p:sp>
        <p:nvSpPr>
          <p:cNvPr id="259" name="Google Shape;259;p5"/>
          <p:cNvSpPr txBox="1"/>
          <p:nvPr/>
        </p:nvSpPr>
        <p:spPr>
          <a:xfrm>
            <a:off x="7274078" y="393345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BÀI ĐÁNH GIÁ</a:t>
            </a:r>
            <a:endParaRPr/>
          </a:p>
        </p:txBody>
      </p:sp>
      <p:sp>
        <p:nvSpPr>
          <p:cNvPr id="260" name="Google Shape;260;p5"/>
          <p:cNvSpPr txBox="1"/>
          <p:nvPr/>
        </p:nvSpPr>
        <p:spPr>
          <a:xfrm>
            <a:off x="12630398" y="3876305"/>
            <a:ext cx="4236915" cy="573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HỆ SỐ</a:t>
            </a:r>
            <a:endParaRPr/>
          </a:p>
        </p:txBody>
      </p:sp>
      <p:sp>
        <p:nvSpPr>
          <p:cNvPr id="261" name="Google Shape;261;p5"/>
          <p:cNvSpPr txBox="1"/>
          <p:nvPr/>
        </p:nvSpPr>
        <p:spPr>
          <a:xfrm>
            <a:off x="1351928" y="5249810"/>
            <a:ext cx="423691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chuyên cần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1351928" y="6573785"/>
            <a:ext cx="423691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quá trình</a:t>
            </a:r>
            <a:endParaRPr/>
          </a:p>
        </p:txBody>
      </p:sp>
      <p:sp>
        <p:nvSpPr>
          <p:cNvPr id="263" name="Google Shape;263;p5"/>
          <p:cNvSpPr txBox="1"/>
          <p:nvPr/>
        </p:nvSpPr>
        <p:spPr>
          <a:xfrm>
            <a:off x="1351928" y="8006530"/>
            <a:ext cx="569887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Đánh giá kết thúc học phần</a:t>
            </a:r>
            <a:endParaRPr/>
          </a:p>
        </p:txBody>
      </p:sp>
      <p:sp>
        <p:nvSpPr>
          <p:cNvPr id="264" name="Google Shape;264;p5"/>
          <p:cNvSpPr txBox="1"/>
          <p:nvPr/>
        </p:nvSpPr>
        <p:spPr>
          <a:xfrm>
            <a:off x="1671475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6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272" name="Google Shape;272;p6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6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6"/>
          <p:cNvSpPr/>
          <p:nvPr/>
        </p:nvSpPr>
        <p:spPr>
          <a:xfrm>
            <a:off x="4719313" y="3080586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275" name="Google Shape;275;p6"/>
          <p:cNvGrpSpPr/>
          <p:nvPr/>
        </p:nvGrpSpPr>
        <p:grpSpPr>
          <a:xfrm>
            <a:off x="4719313" y="2024673"/>
            <a:ext cx="8849379" cy="1457539"/>
            <a:chOff x="0" y="-47625"/>
            <a:chExt cx="2330700" cy="383879"/>
          </a:xfrm>
        </p:grpSpPr>
        <p:sp>
          <p:nvSpPr>
            <p:cNvPr id="276" name="Google Shape;276;p6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6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8" name="Google Shape;278;p6"/>
          <p:cNvSpPr/>
          <p:nvPr/>
        </p:nvSpPr>
        <p:spPr>
          <a:xfrm>
            <a:off x="5781567" y="2346460"/>
            <a:ext cx="849304" cy="994792"/>
          </a:xfrm>
          <a:custGeom>
            <a:avLst/>
            <a:gdLst/>
            <a:ahLst/>
            <a:cxnLst/>
            <a:rect l="l" t="t" r="r" b="b"/>
            <a:pathLst>
              <a:path w="849304" h="994792" extrusionOk="0">
                <a:moveTo>
                  <a:pt x="0" y="0"/>
                </a:moveTo>
                <a:lnTo>
                  <a:pt x="849304" y="0"/>
                </a:lnTo>
                <a:lnTo>
                  <a:pt x="849304" y="994792"/>
                </a:lnTo>
                <a:lnTo>
                  <a:pt x="0" y="994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79" name="Google Shape;279;p6"/>
          <p:cNvSpPr/>
          <p:nvPr/>
        </p:nvSpPr>
        <p:spPr>
          <a:xfrm>
            <a:off x="2979216" y="8672525"/>
            <a:ext cx="4388535" cy="348669"/>
          </a:xfrm>
          <a:custGeom>
            <a:avLst/>
            <a:gdLst/>
            <a:ahLst/>
            <a:cxnLst/>
            <a:rect l="l" t="t" r="r" b="b"/>
            <a:pathLst>
              <a:path w="4388535" h="348669" extrusionOk="0">
                <a:moveTo>
                  <a:pt x="0" y="0"/>
                </a:moveTo>
                <a:lnTo>
                  <a:pt x="4388536" y="0"/>
                </a:lnTo>
                <a:lnTo>
                  <a:pt x="4388536" y="348669"/>
                </a:lnTo>
                <a:lnTo>
                  <a:pt x="0" y="348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 t="-47892"/>
            </a:stretch>
          </a:blipFill>
          <a:ln>
            <a:noFill/>
          </a:ln>
        </p:spPr>
      </p:sp>
      <p:grpSp>
        <p:nvGrpSpPr>
          <p:cNvPr id="280" name="Google Shape;280;p6"/>
          <p:cNvGrpSpPr/>
          <p:nvPr/>
        </p:nvGrpSpPr>
        <p:grpSpPr>
          <a:xfrm>
            <a:off x="2573416" y="4204252"/>
            <a:ext cx="5424379" cy="4468273"/>
            <a:chOff x="0" y="-47625"/>
            <a:chExt cx="1428643" cy="1176829"/>
          </a:xfrm>
        </p:grpSpPr>
        <p:sp>
          <p:nvSpPr>
            <p:cNvPr id="281" name="Google Shape;281;p6"/>
            <p:cNvSpPr/>
            <p:nvPr/>
          </p:nvSpPr>
          <p:spPr>
            <a:xfrm>
              <a:off x="0" y="0"/>
              <a:ext cx="1428643" cy="1129204"/>
            </a:xfrm>
            <a:custGeom>
              <a:avLst/>
              <a:gdLst/>
              <a:ahLst/>
              <a:cxnLst/>
              <a:rect l="l" t="t" r="r" b="b"/>
              <a:pathLst>
                <a:path w="1428643" h="1129204" extrusionOk="0">
                  <a:moveTo>
                    <a:pt x="45672" y="0"/>
                  </a:moveTo>
                  <a:lnTo>
                    <a:pt x="1382971" y="0"/>
                  </a:lnTo>
                  <a:cubicBezTo>
                    <a:pt x="1395084" y="0"/>
                    <a:pt x="1406701" y="4812"/>
                    <a:pt x="1415266" y="13377"/>
                  </a:cubicBezTo>
                  <a:cubicBezTo>
                    <a:pt x="1423831" y="21942"/>
                    <a:pt x="1428643" y="33559"/>
                    <a:pt x="1428643" y="45672"/>
                  </a:cubicBezTo>
                  <a:lnTo>
                    <a:pt x="1428643" y="1083532"/>
                  </a:lnTo>
                  <a:cubicBezTo>
                    <a:pt x="1428643" y="1095645"/>
                    <a:pt x="1423831" y="1107262"/>
                    <a:pt x="1415266" y="1115827"/>
                  </a:cubicBezTo>
                  <a:cubicBezTo>
                    <a:pt x="1406701" y="1124392"/>
                    <a:pt x="1395084" y="1129204"/>
                    <a:pt x="1382971" y="1129204"/>
                  </a:cubicBezTo>
                  <a:lnTo>
                    <a:pt x="45672" y="1129204"/>
                  </a:lnTo>
                  <a:cubicBezTo>
                    <a:pt x="33559" y="1129204"/>
                    <a:pt x="21942" y="1124392"/>
                    <a:pt x="13377" y="1115827"/>
                  </a:cubicBezTo>
                  <a:cubicBezTo>
                    <a:pt x="4812" y="1107262"/>
                    <a:pt x="0" y="1095645"/>
                    <a:pt x="0" y="1083532"/>
                  </a:cubicBezTo>
                  <a:lnTo>
                    <a:pt x="0" y="45672"/>
                  </a:lnTo>
                  <a:cubicBezTo>
                    <a:pt x="0" y="33559"/>
                    <a:pt x="4812" y="21942"/>
                    <a:pt x="13377" y="13377"/>
                  </a:cubicBezTo>
                  <a:cubicBezTo>
                    <a:pt x="21942" y="4812"/>
                    <a:pt x="33559" y="0"/>
                    <a:pt x="45672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0" y="-47625"/>
              <a:ext cx="1428643" cy="11768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6"/>
          <p:cNvGrpSpPr/>
          <p:nvPr/>
        </p:nvGrpSpPr>
        <p:grpSpPr>
          <a:xfrm>
            <a:off x="10297650" y="4168161"/>
            <a:ext cx="5424379" cy="4504364"/>
            <a:chOff x="0" y="-47625"/>
            <a:chExt cx="1428643" cy="1186335"/>
          </a:xfrm>
        </p:grpSpPr>
        <p:sp>
          <p:nvSpPr>
            <p:cNvPr id="284" name="Google Shape;284;p6"/>
            <p:cNvSpPr/>
            <p:nvPr/>
          </p:nvSpPr>
          <p:spPr>
            <a:xfrm>
              <a:off x="0" y="0"/>
              <a:ext cx="1428643" cy="1138710"/>
            </a:xfrm>
            <a:custGeom>
              <a:avLst/>
              <a:gdLst/>
              <a:ahLst/>
              <a:cxnLst/>
              <a:rect l="l" t="t" r="r" b="b"/>
              <a:pathLst>
                <a:path w="1428643" h="1138710" extrusionOk="0">
                  <a:moveTo>
                    <a:pt x="45672" y="0"/>
                  </a:moveTo>
                  <a:lnTo>
                    <a:pt x="1382971" y="0"/>
                  </a:lnTo>
                  <a:cubicBezTo>
                    <a:pt x="1395084" y="0"/>
                    <a:pt x="1406701" y="4812"/>
                    <a:pt x="1415266" y="13377"/>
                  </a:cubicBezTo>
                  <a:cubicBezTo>
                    <a:pt x="1423831" y="21942"/>
                    <a:pt x="1428643" y="33559"/>
                    <a:pt x="1428643" y="45672"/>
                  </a:cubicBezTo>
                  <a:lnTo>
                    <a:pt x="1428643" y="1093038"/>
                  </a:lnTo>
                  <a:cubicBezTo>
                    <a:pt x="1428643" y="1105151"/>
                    <a:pt x="1423831" y="1116768"/>
                    <a:pt x="1415266" y="1125333"/>
                  </a:cubicBezTo>
                  <a:cubicBezTo>
                    <a:pt x="1406701" y="1133898"/>
                    <a:pt x="1395084" y="1138710"/>
                    <a:pt x="1382971" y="1138710"/>
                  </a:cubicBezTo>
                  <a:lnTo>
                    <a:pt x="45672" y="1138710"/>
                  </a:lnTo>
                  <a:cubicBezTo>
                    <a:pt x="33559" y="1138710"/>
                    <a:pt x="21942" y="1133898"/>
                    <a:pt x="13377" y="1125333"/>
                  </a:cubicBezTo>
                  <a:cubicBezTo>
                    <a:pt x="4812" y="1116768"/>
                    <a:pt x="0" y="1105151"/>
                    <a:pt x="0" y="1093038"/>
                  </a:cubicBezTo>
                  <a:lnTo>
                    <a:pt x="0" y="45672"/>
                  </a:lnTo>
                  <a:cubicBezTo>
                    <a:pt x="0" y="33559"/>
                    <a:pt x="4812" y="21942"/>
                    <a:pt x="13377" y="13377"/>
                  </a:cubicBezTo>
                  <a:cubicBezTo>
                    <a:pt x="21942" y="4812"/>
                    <a:pt x="33559" y="0"/>
                    <a:pt x="45672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6"/>
            <p:cNvSpPr txBox="1"/>
            <p:nvPr/>
          </p:nvSpPr>
          <p:spPr>
            <a:xfrm>
              <a:off x="0" y="-47625"/>
              <a:ext cx="1428643" cy="1186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6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287" name="Google Shape;287;p6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8" name="Google Shape;288;p6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6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290" name="Google Shape;290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2" name="Google Shape;292;p6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93" name="Google Shape;293;p6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94" name="Google Shape;294;p6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6"/>
          <p:cNvSpPr txBox="1"/>
          <p:nvPr/>
        </p:nvSpPr>
        <p:spPr>
          <a:xfrm>
            <a:off x="6206219" y="2424756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TÀI LIỆU HỌC TẬP</a:t>
            </a:r>
            <a:endParaRPr/>
          </a:p>
        </p:txBody>
      </p:sp>
      <p:sp>
        <p:nvSpPr>
          <p:cNvPr id="296" name="Google Shape;296;p6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/>
          </a:p>
        </p:txBody>
      </p:sp>
      <p:sp>
        <p:nvSpPr>
          <p:cNvPr id="297" name="Google Shape;297;p6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298" name="Google Shape;298;p6"/>
          <p:cNvSpPr txBox="1"/>
          <p:nvPr/>
        </p:nvSpPr>
        <p:spPr>
          <a:xfrm>
            <a:off x="1224946" y="5048250"/>
            <a:ext cx="8068459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Giáo trình chính</a:t>
            </a:r>
            <a:endParaRPr/>
          </a:p>
        </p:txBody>
      </p:sp>
      <p:sp>
        <p:nvSpPr>
          <p:cNvPr id="299" name="Google Shape;299;p6"/>
          <p:cNvSpPr txBox="1"/>
          <p:nvPr/>
        </p:nvSpPr>
        <p:spPr>
          <a:xfrm>
            <a:off x="9027059" y="5048250"/>
            <a:ext cx="8068459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Tài liệu tham khảo</a:t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10815572" y="8672525"/>
            <a:ext cx="4388535" cy="348669"/>
          </a:xfrm>
          <a:custGeom>
            <a:avLst/>
            <a:gdLst/>
            <a:ahLst/>
            <a:cxnLst/>
            <a:rect l="l" t="t" r="r" b="b"/>
            <a:pathLst>
              <a:path w="4388535" h="348669" extrusionOk="0">
                <a:moveTo>
                  <a:pt x="0" y="0"/>
                </a:moveTo>
                <a:lnTo>
                  <a:pt x="4388535" y="0"/>
                </a:lnTo>
                <a:lnTo>
                  <a:pt x="4388535" y="348669"/>
                </a:lnTo>
                <a:lnTo>
                  <a:pt x="0" y="348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 t="-47892"/>
            </a:stretch>
          </a:blipFill>
          <a:ln>
            <a:noFill/>
          </a:ln>
        </p:spPr>
      </p:sp>
      <p:sp>
        <p:nvSpPr>
          <p:cNvPr id="301" name="Google Shape;301;p6"/>
          <p:cNvSpPr txBox="1"/>
          <p:nvPr/>
        </p:nvSpPr>
        <p:spPr>
          <a:xfrm>
            <a:off x="1606565" y="150093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303" name="Google Shape;303;p6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7"/>
          <p:cNvSpPr/>
          <p:nvPr/>
        </p:nvSpPr>
        <p:spPr>
          <a:xfrm>
            <a:off x="4770773" y="2007099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09" name="Google Shape;309;p7"/>
          <p:cNvGrpSpPr/>
          <p:nvPr/>
        </p:nvGrpSpPr>
        <p:grpSpPr>
          <a:xfrm>
            <a:off x="2795670" y="1093906"/>
            <a:ext cx="12995470" cy="1457539"/>
            <a:chOff x="0" y="-47625"/>
            <a:chExt cx="3422675" cy="383879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3422675" cy="336254"/>
            </a:xfrm>
            <a:custGeom>
              <a:avLst/>
              <a:gdLst/>
              <a:ahLst/>
              <a:cxnLst/>
              <a:rect l="l" t="t" r="r" b="b"/>
              <a:pathLst>
                <a:path w="3422675" h="336254" extrusionOk="0">
                  <a:moveTo>
                    <a:pt x="10128" y="0"/>
                  </a:moveTo>
                  <a:lnTo>
                    <a:pt x="3412548" y="0"/>
                  </a:lnTo>
                  <a:cubicBezTo>
                    <a:pt x="3418141" y="0"/>
                    <a:pt x="3422675" y="4534"/>
                    <a:pt x="3422675" y="10128"/>
                  </a:cubicBezTo>
                  <a:lnTo>
                    <a:pt x="3422675" y="326126"/>
                  </a:lnTo>
                  <a:cubicBezTo>
                    <a:pt x="3422675" y="328812"/>
                    <a:pt x="3421608" y="331388"/>
                    <a:pt x="3419709" y="333287"/>
                  </a:cubicBezTo>
                  <a:cubicBezTo>
                    <a:pt x="3417810" y="335187"/>
                    <a:pt x="3415234" y="336254"/>
                    <a:pt x="3412548" y="336254"/>
                  </a:cubicBezTo>
                  <a:lnTo>
                    <a:pt x="10128" y="336254"/>
                  </a:lnTo>
                  <a:cubicBezTo>
                    <a:pt x="4534" y="336254"/>
                    <a:pt x="0" y="331719"/>
                    <a:pt x="0" y="326126"/>
                  </a:cubicBezTo>
                  <a:lnTo>
                    <a:pt x="0" y="10128"/>
                  </a:lnTo>
                  <a:cubicBezTo>
                    <a:pt x="0" y="4534"/>
                    <a:pt x="4534" y="0"/>
                    <a:pt x="10128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0" y="-47625"/>
              <a:ext cx="3422675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7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7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19" name="Google Shape;319;p7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20" name="Google Shape;320;p7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537593" y="3162569"/>
            <a:ext cx="7295981" cy="3500808"/>
            <a:chOff x="0" y="-47625"/>
            <a:chExt cx="1921575" cy="922024"/>
          </a:xfrm>
        </p:grpSpPr>
        <p:sp>
          <p:nvSpPr>
            <p:cNvPr id="322" name="Google Shape;322;p7"/>
            <p:cNvSpPr/>
            <p:nvPr/>
          </p:nvSpPr>
          <p:spPr>
            <a:xfrm>
              <a:off x="0" y="0"/>
              <a:ext cx="1921575" cy="874399"/>
            </a:xfrm>
            <a:custGeom>
              <a:avLst/>
              <a:gdLst/>
              <a:ahLst/>
              <a:cxnLst/>
              <a:rect l="l" t="t" r="r" b="b"/>
              <a:pathLst>
                <a:path w="1921575" h="874399" extrusionOk="0">
                  <a:moveTo>
                    <a:pt x="20161" y="0"/>
                  </a:moveTo>
                  <a:lnTo>
                    <a:pt x="1901414" y="0"/>
                  </a:lnTo>
                  <a:cubicBezTo>
                    <a:pt x="1912549" y="0"/>
                    <a:pt x="1921575" y="9027"/>
                    <a:pt x="1921575" y="20161"/>
                  </a:cubicBezTo>
                  <a:lnTo>
                    <a:pt x="1921575" y="854237"/>
                  </a:lnTo>
                  <a:cubicBezTo>
                    <a:pt x="1921575" y="865372"/>
                    <a:pt x="1912549" y="874399"/>
                    <a:pt x="1901414" y="874399"/>
                  </a:cubicBezTo>
                  <a:lnTo>
                    <a:pt x="20161" y="874399"/>
                  </a:lnTo>
                  <a:cubicBezTo>
                    <a:pt x="9027" y="874399"/>
                    <a:pt x="0" y="865372"/>
                    <a:pt x="0" y="854237"/>
                  </a:cubicBezTo>
                  <a:lnTo>
                    <a:pt x="0" y="20161"/>
                  </a:lnTo>
                  <a:cubicBezTo>
                    <a:pt x="0" y="9027"/>
                    <a:pt x="9027" y="0"/>
                    <a:pt x="20161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 txBox="1"/>
            <p:nvPr/>
          </p:nvSpPr>
          <p:spPr>
            <a:xfrm>
              <a:off x="0" y="-47625"/>
              <a:ext cx="1921575" cy="922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7"/>
          <p:cNvGrpSpPr/>
          <p:nvPr/>
        </p:nvGrpSpPr>
        <p:grpSpPr>
          <a:xfrm>
            <a:off x="6528716" y="6939518"/>
            <a:ext cx="5008011" cy="1059797"/>
            <a:chOff x="0" y="-76200"/>
            <a:chExt cx="1949025" cy="412454"/>
          </a:xfrm>
        </p:grpSpPr>
        <p:sp>
          <p:nvSpPr>
            <p:cNvPr id="325" name="Google Shape;325;p7"/>
            <p:cNvSpPr/>
            <p:nvPr/>
          </p:nvSpPr>
          <p:spPr>
            <a:xfrm>
              <a:off x="0" y="0"/>
              <a:ext cx="1949025" cy="336254"/>
            </a:xfrm>
            <a:custGeom>
              <a:avLst/>
              <a:gdLst/>
              <a:ahLst/>
              <a:cxnLst/>
              <a:rect l="l" t="t" r="r" b="b"/>
              <a:pathLst>
                <a:path w="1949025" h="336254" extrusionOk="0">
                  <a:moveTo>
                    <a:pt x="26280" y="0"/>
                  </a:moveTo>
                  <a:lnTo>
                    <a:pt x="1922745" y="0"/>
                  </a:lnTo>
                  <a:cubicBezTo>
                    <a:pt x="1929715" y="0"/>
                    <a:pt x="1936399" y="2769"/>
                    <a:pt x="1941328" y="7697"/>
                  </a:cubicBezTo>
                  <a:cubicBezTo>
                    <a:pt x="1946256" y="12626"/>
                    <a:pt x="1949025" y="19310"/>
                    <a:pt x="1949025" y="26280"/>
                  </a:cubicBezTo>
                  <a:lnTo>
                    <a:pt x="1949025" y="309973"/>
                  </a:lnTo>
                  <a:cubicBezTo>
                    <a:pt x="1949025" y="316943"/>
                    <a:pt x="1946256" y="323628"/>
                    <a:pt x="1941328" y="328556"/>
                  </a:cubicBezTo>
                  <a:cubicBezTo>
                    <a:pt x="1936399" y="333485"/>
                    <a:pt x="1929715" y="336254"/>
                    <a:pt x="1922745" y="336254"/>
                  </a:cubicBezTo>
                  <a:lnTo>
                    <a:pt x="26280" y="336254"/>
                  </a:lnTo>
                  <a:cubicBezTo>
                    <a:pt x="19310" y="336254"/>
                    <a:pt x="12626" y="333485"/>
                    <a:pt x="7697" y="328556"/>
                  </a:cubicBezTo>
                  <a:cubicBezTo>
                    <a:pt x="2769" y="323628"/>
                    <a:pt x="0" y="316943"/>
                    <a:pt x="0" y="309973"/>
                  </a:cubicBezTo>
                  <a:lnTo>
                    <a:pt x="0" y="26280"/>
                  </a:lnTo>
                  <a:cubicBezTo>
                    <a:pt x="0" y="19310"/>
                    <a:pt x="2769" y="12626"/>
                    <a:pt x="7697" y="7697"/>
                  </a:cubicBezTo>
                  <a:cubicBezTo>
                    <a:pt x="12626" y="2769"/>
                    <a:pt x="19310" y="0"/>
                    <a:pt x="26280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0E514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0" y="-76200"/>
              <a:ext cx="1949025" cy="41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7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7"/>
          <p:cNvGrpSpPr/>
          <p:nvPr/>
        </p:nvGrpSpPr>
        <p:grpSpPr>
          <a:xfrm>
            <a:off x="1201080" y="8654813"/>
            <a:ext cx="547366" cy="547366"/>
            <a:chOff x="0" y="0"/>
            <a:chExt cx="812800" cy="812800"/>
          </a:xfrm>
        </p:grpSpPr>
        <p:sp>
          <p:nvSpPr>
            <p:cNvPr id="328" name="Google Shape;328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A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7"/>
          <p:cNvGrpSpPr/>
          <p:nvPr/>
        </p:nvGrpSpPr>
        <p:grpSpPr>
          <a:xfrm>
            <a:off x="7410614" y="8609730"/>
            <a:ext cx="547366" cy="547366"/>
            <a:chOff x="0" y="0"/>
            <a:chExt cx="812800" cy="812800"/>
          </a:xfrm>
        </p:grpSpPr>
        <p:sp>
          <p:nvSpPr>
            <p:cNvPr id="331" name="Google Shape;331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7"/>
          <p:cNvGrpSpPr/>
          <p:nvPr/>
        </p:nvGrpSpPr>
        <p:grpSpPr>
          <a:xfrm>
            <a:off x="13620147" y="8654813"/>
            <a:ext cx="547366" cy="547366"/>
            <a:chOff x="0" y="0"/>
            <a:chExt cx="812800" cy="812800"/>
          </a:xfrm>
        </p:grpSpPr>
        <p:sp>
          <p:nvSpPr>
            <p:cNvPr id="334" name="Google Shape;334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7"/>
          <p:cNvSpPr/>
          <p:nvPr/>
        </p:nvSpPr>
        <p:spPr>
          <a:xfrm>
            <a:off x="9217852" y="2762764"/>
            <a:ext cx="7965895" cy="3524909"/>
          </a:xfrm>
          <a:custGeom>
            <a:avLst/>
            <a:gdLst/>
            <a:ahLst/>
            <a:cxnLst/>
            <a:rect l="l" t="t" r="r" b="b"/>
            <a:pathLst>
              <a:path w="7965895" h="3524909" extrusionOk="0">
                <a:moveTo>
                  <a:pt x="0" y="0"/>
                </a:moveTo>
                <a:lnTo>
                  <a:pt x="7965895" y="0"/>
                </a:lnTo>
                <a:lnTo>
                  <a:pt x="7965895" y="3524908"/>
                </a:lnTo>
                <a:lnTo>
                  <a:pt x="0" y="3524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7" name="Google Shape;337;p7"/>
          <p:cNvSpPr txBox="1"/>
          <p:nvPr/>
        </p:nvSpPr>
        <p:spPr>
          <a:xfrm>
            <a:off x="3510248" y="1534946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CASE STUDY/ TÌNH HUỐNG THỰC TIỄN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1467213" y="3631537"/>
            <a:ext cx="5061503" cy="67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TÌNH HUỐNG</a:t>
            </a:r>
            <a:endParaRPr/>
          </a:p>
        </p:txBody>
      </p:sp>
      <p:sp>
        <p:nvSpPr>
          <p:cNvPr id="341" name="Google Shape;341;p7"/>
          <p:cNvSpPr txBox="1"/>
          <p:nvPr/>
        </p:nvSpPr>
        <p:spPr>
          <a:xfrm>
            <a:off x="6932449" y="7271377"/>
            <a:ext cx="4604278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CÂU HỎI PHÂN TÍCH</a:t>
            </a:r>
            <a:endParaRPr/>
          </a:p>
        </p:txBody>
      </p:sp>
      <p:sp>
        <p:nvSpPr>
          <p:cNvPr id="342" name="Google Shape;342;p7"/>
          <p:cNvSpPr txBox="1"/>
          <p:nvPr/>
        </p:nvSpPr>
        <p:spPr>
          <a:xfrm>
            <a:off x="1325485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343" name="Google Shape;343;p7"/>
          <p:cNvSpPr txBox="1"/>
          <p:nvPr/>
        </p:nvSpPr>
        <p:spPr>
          <a:xfrm>
            <a:off x="1929762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7535018" y="8622600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345" name="Google Shape;345;p7"/>
          <p:cNvSpPr txBox="1"/>
          <p:nvPr/>
        </p:nvSpPr>
        <p:spPr>
          <a:xfrm>
            <a:off x="8139296" y="8578613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13744552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347" name="Google Shape;347;p7"/>
          <p:cNvSpPr txBox="1"/>
          <p:nvPr/>
        </p:nvSpPr>
        <p:spPr>
          <a:xfrm>
            <a:off x="14348829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Câu hỏi?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853193" y="4529777"/>
            <a:ext cx="666478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Mô tả tình huống thực tế liên quan đến nội dung bài học.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8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7" name="Google Shape;357;p8"/>
          <p:cNvSpPr/>
          <p:nvPr/>
        </p:nvSpPr>
        <p:spPr>
          <a:xfrm>
            <a:off x="4719313" y="1373538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8" name="Google Shape;358;p8"/>
          <p:cNvGrpSpPr/>
          <p:nvPr/>
        </p:nvGrpSpPr>
        <p:grpSpPr>
          <a:xfrm>
            <a:off x="5143052" y="853975"/>
            <a:ext cx="6784530" cy="1457539"/>
            <a:chOff x="0" y="-47625"/>
            <a:chExt cx="1786872" cy="383879"/>
          </a:xfrm>
        </p:grpSpPr>
        <p:sp>
          <p:nvSpPr>
            <p:cNvPr id="359" name="Google Shape;359;p8"/>
            <p:cNvSpPr/>
            <p:nvPr/>
          </p:nvSpPr>
          <p:spPr>
            <a:xfrm>
              <a:off x="0" y="0"/>
              <a:ext cx="1786872" cy="336254"/>
            </a:xfrm>
            <a:custGeom>
              <a:avLst/>
              <a:gdLst/>
              <a:ahLst/>
              <a:cxnLst/>
              <a:rect l="l" t="t" r="r" b="b"/>
              <a:pathLst>
                <a:path w="1786872" h="336254" extrusionOk="0">
                  <a:moveTo>
                    <a:pt x="19399" y="0"/>
                  </a:moveTo>
                  <a:lnTo>
                    <a:pt x="1767473" y="0"/>
                  </a:lnTo>
                  <a:cubicBezTo>
                    <a:pt x="1772618" y="0"/>
                    <a:pt x="1777552" y="2044"/>
                    <a:pt x="1781190" y="5682"/>
                  </a:cubicBezTo>
                  <a:cubicBezTo>
                    <a:pt x="1784828" y="9320"/>
                    <a:pt x="1786872" y="14254"/>
                    <a:pt x="1786872" y="19399"/>
                  </a:cubicBezTo>
                  <a:lnTo>
                    <a:pt x="1786872" y="316855"/>
                  </a:lnTo>
                  <a:cubicBezTo>
                    <a:pt x="1786872" y="322000"/>
                    <a:pt x="1784828" y="326934"/>
                    <a:pt x="1781190" y="330572"/>
                  </a:cubicBezTo>
                  <a:cubicBezTo>
                    <a:pt x="1777552" y="334210"/>
                    <a:pt x="1772618" y="336254"/>
                    <a:pt x="1767473" y="336254"/>
                  </a:cubicBezTo>
                  <a:lnTo>
                    <a:pt x="19399" y="336254"/>
                  </a:lnTo>
                  <a:cubicBezTo>
                    <a:pt x="14254" y="336254"/>
                    <a:pt x="9320" y="334210"/>
                    <a:pt x="5682" y="330572"/>
                  </a:cubicBezTo>
                  <a:cubicBezTo>
                    <a:pt x="2044" y="326934"/>
                    <a:pt x="0" y="322000"/>
                    <a:pt x="0" y="316855"/>
                  </a:cubicBezTo>
                  <a:lnTo>
                    <a:pt x="0" y="19399"/>
                  </a:lnTo>
                  <a:cubicBezTo>
                    <a:pt x="0" y="14254"/>
                    <a:pt x="2044" y="9320"/>
                    <a:pt x="5682" y="5682"/>
                  </a:cubicBezTo>
                  <a:cubicBezTo>
                    <a:pt x="9320" y="2044"/>
                    <a:pt x="14254" y="0"/>
                    <a:pt x="19399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 txBox="1"/>
            <p:nvPr/>
          </p:nvSpPr>
          <p:spPr>
            <a:xfrm>
              <a:off x="0" y="-47625"/>
              <a:ext cx="1786872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8"/>
          <p:cNvSpPr/>
          <p:nvPr/>
        </p:nvSpPr>
        <p:spPr>
          <a:xfrm>
            <a:off x="5976810" y="1263578"/>
            <a:ext cx="1229504" cy="819157"/>
          </a:xfrm>
          <a:custGeom>
            <a:avLst/>
            <a:gdLst/>
            <a:ahLst/>
            <a:cxnLst/>
            <a:rect l="l" t="t" r="r" b="b"/>
            <a:pathLst>
              <a:path w="1229504" h="819157" extrusionOk="0">
                <a:moveTo>
                  <a:pt x="0" y="0"/>
                </a:moveTo>
                <a:lnTo>
                  <a:pt x="1229504" y="0"/>
                </a:lnTo>
                <a:lnTo>
                  <a:pt x="1229504" y="819158"/>
                </a:lnTo>
                <a:lnTo>
                  <a:pt x="0" y="819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2" name="Google Shape;362;p8"/>
          <p:cNvGrpSpPr/>
          <p:nvPr/>
        </p:nvGrpSpPr>
        <p:grpSpPr>
          <a:xfrm>
            <a:off x="1270595" y="3185950"/>
            <a:ext cx="8714765" cy="4885364"/>
            <a:chOff x="0" y="-47625"/>
            <a:chExt cx="2295247" cy="1286680"/>
          </a:xfrm>
        </p:grpSpPr>
        <p:sp>
          <p:nvSpPr>
            <p:cNvPr id="363" name="Google Shape;363;p8"/>
            <p:cNvSpPr/>
            <p:nvPr/>
          </p:nvSpPr>
          <p:spPr>
            <a:xfrm>
              <a:off x="0" y="0"/>
              <a:ext cx="2295247" cy="1239055"/>
            </a:xfrm>
            <a:custGeom>
              <a:avLst/>
              <a:gdLst/>
              <a:ahLst/>
              <a:cxnLst/>
              <a:rect l="l" t="t" r="r" b="b"/>
              <a:pathLst>
                <a:path w="2295247" h="1239055" extrusionOk="0">
                  <a:moveTo>
                    <a:pt x="28428" y="0"/>
                  </a:moveTo>
                  <a:lnTo>
                    <a:pt x="2266819" y="0"/>
                  </a:lnTo>
                  <a:cubicBezTo>
                    <a:pt x="2274358" y="0"/>
                    <a:pt x="2281589" y="2995"/>
                    <a:pt x="2286920" y="8326"/>
                  </a:cubicBezTo>
                  <a:cubicBezTo>
                    <a:pt x="2292252" y="13658"/>
                    <a:pt x="2295247" y="20888"/>
                    <a:pt x="2295247" y="28428"/>
                  </a:cubicBezTo>
                  <a:lnTo>
                    <a:pt x="2295247" y="1210627"/>
                  </a:lnTo>
                  <a:cubicBezTo>
                    <a:pt x="2295247" y="1218167"/>
                    <a:pt x="2292252" y="1225398"/>
                    <a:pt x="2286920" y="1230729"/>
                  </a:cubicBezTo>
                  <a:cubicBezTo>
                    <a:pt x="2281589" y="1236060"/>
                    <a:pt x="2274358" y="1239055"/>
                    <a:pt x="2266819" y="1239055"/>
                  </a:cubicBezTo>
                  <a:lnTo>
                    <a:pt x="28428" y="1239055"/>
                  </a:lnTo>
                  <a:cubicBezTo>
                    <a:pt x="12728" y="1239055"/>
                    <a:pt x="0" y="1226328"/>
                    <a:pt x="0" y="1210627"/>
                  </a:cubicBezTo>
                  <a:lnTo>
                    <a:pt x="0" y="28428"/>
                  </a:lnTo>
                  <a:cubicBezTo>
                    <a:pt x="0" y="20888"/>
                    <a:pt x="2995" y="13658"/>
                    <a:pt x="8326" y="8326"/>
                  </a:cubicBezTo>
                  <a:cubicBezTo>
                    <a:pt x="13658" y="2995"/>
                    <a:pt x="20888" y="0"/>
                    <a:pt x="28428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 txBox="1"/>
            <p:nvPr/>
          </p:nvSpPr>
          <p:spPr>
            <a:xfrm>
              <a:off x="0" y="-47625"/>
              <a:ext cx="2295247" cy="1286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8"/>
          <p:cNvSpPr/>
          <p:nvPr/>
        </p:nvSpPr>
        <p:spPr>
          <a:xfrm>
            <a:off x="10786288" y="6257021"/>
            <a:ext cx="6701236" cy="3291982"/>
          </a:xfrm>
          <a:custGeom>
            <a:avLst/>
            <a:gdLst/>
            <a:ahLst/>
            <a:cxnLst/>
            <a:rect l="l" t="t" r="r" b="b"/>
            <a:pathLst>
              <a:path w="6701236" h="3291982" extrusionOk="0">
                <a:moveTo>
                  <a:pt x="0" y="0"/>
                </a:moveTo>
                <a:lnTo>
                  <a:pt x="6701235" y="0"/>
                </a:lnTo>
                <a:lnTo>
                  <a:pt x="6701235" y="3291982"/>
                </a:lnTo>
                <a:lnTo>
                  <a:pt x="0" y="3291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6" name="Google Shape;366;p8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8" name="Google Shape;368;p8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70" name="Google Shape;370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8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73" name="Google Shape;373;p8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74" name="Google Shape;374;p8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8"/>
          <p:cNvSpPr/>
          <p:nvPr/>
        </p:nvSpPr>
        <p:spPr>
          <a:xfrm>
            <a:off x="1752859" y="3058400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0" y="0"/>
                </a:moveTo>
                <a:lnTo>
                  <a:pt x="803585" y="0"/>
                </a:lnTo>
                <a:lnTo>
                  <a:pt x="803585" y="616752"/>
                </a:lnTo>
                <a:lnTo>
                  <a:pt x="0" y="616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6" name="Google Shape;376;p8"/>
          <p:cNvSpPr txBox="1"/>
          <p:nvPr/>
        </p:nvSpPr>
        <p:spPr>
          <a:xfrm>
            <a:off x="3544847" y="1295015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THẢO LUẬN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1554613" y="4200588"/>
            <a:ext cx="8068459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Câu hỏi ?</a:t>
            </a:r>
            <a:endParaRPr sz="4500" b="1" i="0" u="none" strike="noStrike" cap="none">
              <a:solidFill>
                <a:srgbClr val="0E6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8"/>
          <p:cNvSpPr/>
          <p:nvPr/>
        </p:nvSpPr>
        <p:spPr>
          <a:xfrm rot="10800000">
            <a:off x="8588950" y="7762938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803585" y="616752"/>
                </a:moveTo>
                <a:lnTo>
                  <a:pt x="0" y="616752"/>
                </a:lnTo>
                <a:lnTo>
                  <a:pt x="0" y="0"/>
                </a:lnTo>
                <a:lnTo>
                  <a:pt x="803585" y="0"/>
                </a:lnTo>
                <a:lnTo>
                  <a:pt x="803585" y="616752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1" name="Google Shape;381;p8"/>
          <p:cNvGrpSpPr/>
          <p:nvPr/>
        </p:nvGrpSpPr>
        <p:grpSpPr>
          <a:xfrm>
            <a:off x="11927582" y="2242038"/>
            <a:ext cx="4960970" cy="1433114"/>
            <a:chOff x="0" y="-47625"/>
            <a:chExt cx="1306593" cy="377446"/>
          </a:xfrm>
        </p:grpSpPr>
        <p:sp>
          <p:nvSpPr>
            <p:cNvPr id="382" name="Google Shape;382;p8"/>
            <p:cNvSpPr/>
            <p:nvPr/>
          </p:nvSpPr>
          <p:spPr>
            <a:xfrm>
              <a:off x="0" y="0"/>
              <a:ext cx="1306593" cy="329821"/>
            </a:xfrm>
            <a:custGeom>
              <a:avLst/>
              <a:gdLst/>
              <a:ahLst/>
              <a:cxnLst/>
              <a:rect l="l" t="t" r="r" b="b"/>
              <a:pathLst>
                <a:path w="1306593" h="329821" extrusionOk="0">
                  <a:moveTo>
                    <a:pt x="29651" y="0"/>
                  </a:moveTo>
                  <a:lnTo>
                    <a:pt x="1276942" y="0"/>
                  </a:lnTo>
                  <a:cubicBezTo>
                    <a:pt x="1284806" y="0"/>
                    <a:pt x="1292348" y="3124"/>
                    <a:pt x="1297908" y="8685"/>
                  </a:cubicBezTo>
                  <a:cubicBezTo>
                    <a:pt x="1303469" y="14245"/>
                    <a:pt x="1306593" y="21787"/>
                    <a:pt x="1306593" y="29651"/>
                  </a:cubicBezTo>
                  <a:lnTo>
                    <a:pt x="1306593" y="300170"/>
                  </a:lnTo>
                  <a:cubicBezTo>
                    <a:pt x="1306593" y="316546"/>
                    <a:pt x="1293318" y="329821"/>
                    <a:pt x="1276942" y="329821"/>
                  </a:cubicBezTo>
                  <a:lnTo>
                    <a:pt x="29651" y="329821"/>
                  </a:lnTo>
                  <a:cubicBezTo>
                    <a:pt x="13275" y="329821"/>
                    <a:pt x="0" y="316546"/>
                    <a:pt x="0" y="300170"/>
                  </a:cubicBezTo>
                  <a:lnTo>
                    <a:pt x="0" y="29651"/>
                  </a:lnTo>
                  <a:cubicBezTo>
                    <a:pt x="0" y="21787"/>
                    <a:pt x="3124" y="14245"/>
                    <a:pt x="8685" y="8685"/>
                  </a:cubicBezTo>
                  <a:cubicBezTo>
                    <a:pt x="14245" y="3124"/>
                    <a:pt x="21787" y="0"/>
                    <a:pt x="2965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 cmpd="sng">
              <a:solidFill>
                <a:srgbClr val="21B52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 txBox="1"/>
            <p:nvPr/>
          </p:nvSpPr>
          <p:spPr>
            <a:xfrm>
              <a:off x="0" y="-47625"/>
              <a:ext cx="1306593" cy="377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8"/>
          <p:cNvGrpSpPr/>
          <p:nvPr/>
        </p:nvGrpSpPr>
        <p:grpSpPr>
          <a:xfrm>
            <a:off x="12894929" y="3950306"/>
            <a:ext cx="3145157" cy="2481947"/>
            <a:chOff x="0" y="-47625"/>
            <a:chExt cx="828354" cy="653682"/>
          </a:xfrm>
        </p:grpSpPr>
        <p:sp>
          <p:nvSpPr>
            <p:cNvPr id="385" name="Google Shape;385;p8"/>
            <p:cNvSpPr/>
            <p:nvPr/>
          </p:nvSpPr>
          <p:spPr>
            <a:xfrm>
              <a:off x="0" y="0"/>
              <a:ext cx="828354" cy="606057"/>
            </a:xfrm>
            <a:custGeom>
              <a:avLst/>
              <a:gdLst/>
              <a:ahLst/>
              <a:cxnLst/>
              <a:rect l="l" t="t" r="r" b="b"/>
              <a:pathLst>
                <a:path w="828354" h="606057" extrusionOk="0">
                  <a:moveTo>
                    <a:pt x="0" y="0"/>
                  </a:moveTo>
                  <a:lnTo>
                    <a:pt x="828354" y="0"/>
                  </a:lnTo>
                  <a:lnTo>
                    <a:pt x="828354" y="606057"/>
                  </a:lnTo>
                  <a:lnTo>
                    <a:pt x="0" y="606057"/>
                  </a:ln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0E6B2D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86" name="Google Shape;386;p8"/>
            <p:cNvSpPr txBox="1"/>
            <p:nvPr/>
          </p:nvSpPr>
          <p:spPr>
            <a:xfrm>
              <a:off x="0" y="-47625"/>
              <a:ext cx="828354" cy="653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8"/>
          <p:cNvSpPr txBox="1"/>
          <p:nvPr/>
        </p:nvSpPr>
        <p:spPr>
          <a:xfrm>
            <a:off x="12441115" y="2486900"/>
            <a:ext cx="405278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Quét QR để tham gia thảo luận (nếu có)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1537071" y="147781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oogle Shape;394;p9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395" name="Google Shape;395;p9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96" name="Google Shape;396;p9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98" name="Google Shape;398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9"/>
          <p:cNvSpPr/>
          <p:nvPr/>
        </p:nvSpPr>
        <p:spPr>
          <a:xfrm>
            <a:off x="33119" y="-2978"/>
            <a:ext cx="1342325" cy="1341654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1" name="Google Shape;401;p9"/>
          <p:cNvSpPr/>
          <p:nvPr/>
        </p:nvSpPr>
        <p:spPr>
          <a:xfrm>
            <a:off x="4868717" y="1825115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2" name="Google Shape;402;p9"/>
          <p:cNvGrpSpPr/>
          <p:nvPr/>
        </p:nvGrpSpPr>
        <p:grpSpPr>
          <a:xfrm>
            <a:off x="4934741" y="879891"/>
            <a:ext cx="7921450" cy="1590471"/>
            <a:chOff x="0" y="-47625"/>
            <a:chExt cx="2330700" cy="383879"/>
          </a:xfrm>
        </p:grpSpPr>
        <p:sp>
          <p:nvSpPr>
            <p:cNvPr id="403" name="Google Shape;403;p9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9"/>
          <p:cNvSpPr/>
          <p:nvPr/>
        </p:nvSpPr>
        <p:spPr>
          <a:xfrm flipH="1">
            <a:off x="5397471" y="1351673"/>
            <a:ext cx="630083" cy="809686"/>
          </a:xfrm>
          <a:custGeom>
            <a:avLst/>
            <a:gdLst/>
            <a:ahLst/>
            <a:cxnLst/>
            <a:rect l="l" t="t" r="r" b="b"/>
            <a:pathLst>
              <a:path w="630083" h="809686" extrusionOk="0">
                <a:moveTo>
                  <a:pt x="630082" y="0"/>
                </a:moveTo>
                <a:lnTo>
                  <a:pt x="0" y="0"/>
                </a:lnTo>
                <a:lnTo>
                  <a:pt x="0" y="809685"/>
                </a:lnTo>
                <a:lnTo>
                  <a:pt x="630082" y="809685"/>
                </a:lnTo>
                <a:lnTo>
                  <a:pt x="63008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6" name="Google Shape;406;p9"/>
          <p:cNvGrpSpPr/>
          <p:nvPr/>
        </p:nvGrpSpPr>
        <p:grpSpPr>
          <a:xfrm>
            <a:off x="1641115" y="2586329"/>
            <a:ext cx="14943406" cy="1693413"/>
            <a:chOff x="0" y="-47625"/>
            <a:chExt cx="3935712" cy="446002"/>
          </a:xfrm>
        </p:grpSpPr>
        <p:sp>
          <p:nvSpPr>
            <p:cNvPr id="407" name="Google Shape;407;p9"/>
            <p:cNvSpPr/>
            <p:nvPr/>
          </p:nvSpPr>
          <p:spPr>
            <a:xfrm>
              <a:off x="0" y="0"/>
              <a:ext cx="3935712" cy="398377"/>
            </a:xfrm>
            <a:custGeom>
              <a:avLst/>
              <a:gdLst/>
              <a:ahLst/>
              <a:cxnLst/>
              <a:rect l="l" t="t" r="r" b="b"/>
              <a:pathLst>
                <a:path w="3935712" h="398377" extrusionOk="0">
                  <a:moveTo>
                    <a:pt x="9844" y="0"/>
                  </a:moveTo>
                  <a:lnTo>
                    <a:pt x="3925868" y="0"/>
                  </a:lnTo>
                  <a:cubicBezTo>
                    <a:pt x="3931305" y="0"/>
                    <a:pt x="3935712" y="4407"/>
                    <a:pt x="3935712" y="9844"/>
                  </a:cubicBezTo>
                  <a:lnTo>
                    <a:pt x="3935712" y="388533"/>
                  </a:lnTo>
                  <a:cubicBezTo>
                    <a:pt x="3935712" y="393970"/>
                    <a:pt x="3931305" y="398377"/>
                    <a:pt x="3925868" y="398377"/>
                  </a:cubicBezTo>
                  <a:lnTo>
                    <a:pt x="9844" y="398377"/>
                  </a:lnTo>
                  <a:cubicBezTo>
                    <a:pt x="4407" y="398377"/>
                    <a:pt x="0" y="393970"/>
                    <a:pt x="0" y="388533"/>
                  </a:cubicBezTo>
                  <a:lnTo>
                    <a:pt x="0" y="9844"/>
                  </a:lnTo>
                  <a:cubicBezTo>
                    <a:pt x="0" y="4407"/>
                    <a:pt x="4407" y="0"/>
                    <a:pt x="9844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 txBox="1"/>
            <p:nvPr/>
          </p:nvSpPr>
          <p:spPr>
            <a:xfrm>
              <a:off x="0" y="-47625"/>
              <a:ext cx="3935712" cy="446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9" name="Google Shape;409;p9"/>
          <p:cNvCxnSpPr/>
          <p:nvPr/>
        </p:nvCxnSpPr>
        <p:spPr>
          <a:xfrm>
            <a:off x="6027554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9"/>
          <p:cNvCxnSpPr/>
          <p:nvPr/>
        </p:nvCxnSpPr>
        <p:spPr>
          <a:xfrm>
            <a:off x="12517271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9"/>
          <p:cNvSpPr/>
          <p:nvPr/>
        </p:nvSpPr>
        <p:spPr>
          <a:xfrm>
            <a:off x="2228915" y="4539612"/>
            <a:ext cx="1201255" cy="1754724"/>
          </a:xfrm>
          <a:custGeom>
            <a:avLst/>
            <a:gdLst/>
            <a:ahLst/>
            <a:cxnLst/>
            <a:rect l="l" t="t" r="r" b="b"/>
            <a:pathLst>
              <a:path w="1201255" h="1754724" extrusionOk="0">
                <a:moveTo>
                  <a:pt x="0" y="0"/>
                </a:moveTo>
                <a:lnTo>
                  <a:pt x="1201255" y="0"/>
                </a:lnTo>
                <a:lnTo>
                  <a:pt x="1201255" y="1754724"/>
                </a:lnTo>
                <a:lnTo>
                  <a:pt x="0" y="1754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2" name="Google Shape;412;p9"/>
          <p:cNvSpPr/>
          <p:nvPr/>
        </p:nvSpPr>
        <p:spPr>
          <a:xfrm>
            <a:off x="8083172" y="4746423"/>
            <a:ext cx="1970671" cy="1399177"/>
          </a:xfrm>
          <a:custGeom>
            <a:avLst/>
            <a:gdLst/>
            <a:ahLst/>
            <a:cxnLst/>
            <a:rect l="l" t="t" r="r" b="b"/>
            <a:pathLst>
              <a:path w="1970671" h="1399177" extrusionOk="0">
                <a:moveTo>
                  <a:pt x="0" y="0"/>
                </a:moveTo>
                <a:lnTo>
                  <a:pt x="1970671" y="0"/>
                </a:lnTo>
                <a:lnTo>
                  <a:pt x="1970671" y="1399177"/>
                </a:lnTo>
                <a:lnTo>
                  <a:pt x="0" y="13991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3" name="Google Shape;413;p9"/>
          <p:cNvSpPr/>
          <p:nvPr/>
        </p:nvSpPr>
        <p:spPr>
          <a:xfrm>
            <a:off x="14670168" y="4693194"/>
            <a:ext cx="1505635" cy="1505635"/>
          </a:xfrm>
          <a:custGeom>
            <a:avLst/>
            <a:gdLst/>
            <a:ahLst/>
            <a:cxnLst/>
            <a:rect l="l" t="t" r="r" b="b"/>
            <a:pathLst>
              <a:path w="1505635" h="1505635" extrusionOk="0">
                <a:moveTo>
                  <a:pt x="0" y="0"/>
                </a:moveTo>
                <a:lnTo>
                  <a:pt x="1505635" y="0"/>
                </a:lnTo>
                <a:lnTo>
                  <a:pt x="1505635" y="1505635"/>
                </a:lnTo>
                <a:lnTo>
                  <a:pt x="0" y="1505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4" name="Google Shape;414;p9"/>
          <p:cNvSpPr txBox="1"/>
          <p:nvPr/>
        </p:nvSpPr>
        <p:spPr>
          <a:xfrm>
            <a:off x="8994595" y="9649968"/>
            <a:ext cx="298810" cy="94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64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6519167" y="1281986"/>
            <a:ext cx="6803620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BÀI TẬP VẬN DỤNG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6806963" y="2879447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NỘI DUNG BÀI TẬP</a:t>
            </a:r>
            <a:endParaRPr/>
          </a:p>
        </p:txBody>
      </p:sp>
      <p:sp>
        <p:nvSpPr>
          <p:cNvPr id="418" name="Google Shape;418;p9"/>
          <p:cNvSpPr txBox="1"/>
          <p:nvPr/>
        </p:nvSpPr>
        <p:spPr>
          <a:xfrm>
            <a:off x="4130628" y="3447248"/>
            <a:ext cx="1041417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Mô tả yêu cầu của bài tập theo nội dung đã học.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298790" y="6503886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YÊU CẦU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1028700" y="7297834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Trình bày yêu cầu 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cụ thể của bài tập.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6496307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HƯỚNG DẪN</a:t>
            </a:r>
            <a:endParaRPr/>
          </a:p>
        </p:txBody>
      </p:sp>
      <p:sp>
        <p:nvSpPr>
          <p:cNvPr id="422" name="Google Shape;422;p9"/>
          <p:cNvSpPr txBox="1"/>
          <p:nvPr/>
        </p:nvSpPr>
        <p:spPr>
          <a:xfrm>
            <a:off x="7226217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Hướng dẫn cách thực hiện hoặc gợi ý.</a:t>
            </a:r>
            <a:endParaRPr/>
          </a:p>
        </p:txBody>
      </p:sp>
      <p:sp>
        <p:nvSpPr>
          <p:cNvPr id="423" name="Google Shape;423;p9"/>
          <p:cNvSpPr txBox="1"/>
          <p:nvPr/>
        </p:nvSpPr>
        <p:spPr>
          <a:xfrm>
            <a:off x="12871370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THỜI GIAN</a:t>
            </a:r>
            <a:endParaRPr/>
          </a:p>
        </p:txBody>
      </p:sp>
      <p:sp>
        <p:nvSpPr>
          <p:cNvPr id="424" name="Google Shape;424;p9"/>
          <p:cNvSpPr txBox="1"/>
          <p:nvPr/>
        </p:nvSpPr>
        <p:spPr>
          <a:xfrm>
            <a:off x="13601279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Thời gian nộp bài /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thực hiện.</a:t>
            </a:r>
            <a:endParaRPr/>
          </a:p>
        </p:txBody>
      </p:sp>
      <p:grpSp>
        <p:nvGrpSpPr>
          <p:cNvPr id="425" name="Google Shape;425;p9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26" name="Google Shape;426;p9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27" name="Google Shape;427;p9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9"/>
          <p:cNvSpPr txBox="1"/>
          <p:nvPr/>
        </p:nvSpPr>
        <p:spPr>
          <a:xfrm>
            <a:off x="1343913" y="98970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TỔNG KẾT NỘI DUNG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nhất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hai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ba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Ý chính quan trọng thứ tư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Khái niệm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Đặc điểm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Quy trình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Ứng dụng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424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73" name="Google Shape;473;p1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474" name="Google Shape;47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1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7" name="Google Shape;477;p1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8" name="Google Shape;478;p11"/>
          <p:cNvSpPr/>
          <p:nvPr/>
        </p:nvSpPr>
        <p:spPr>
          <a:xfrm>
            <a:off x="1028700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9" name="Google Shape;479;p11"/>
          <p:cNvSpPr/>
          <p:nvPr/>
        </p:nvSpPr>
        <p:spPr>
          <a:xfrm>
            <a:off x="7095005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0" name="Google Shape;480;p11"/>
          <p:cNvSpPr txBox="1"/>
          <p:nvPr/>
        </p:nvSpPr>
        <p:spPr>
          <a:xfrm>
            <a:off x="1491585" y="109647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482" name="Google Shape;482;p11"/>
          <p:cNvSpPr txBox="1"/>
          <p:nvPr/>
        </p:nvSpPr>
        <p:spPr>
          <a:xfrm>
            <a:off x="2426917" y="3217794"/>
            <a:ext cx="13434166" cy="120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CẢM ƠN ANH/CHỊ ĐÃ THEO DÕI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3318670" y="4484320"/>
            <a:ext cx="1135185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D400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84" name="Google Shape;484;p11"/>
          <p:cNvSpPr txBox="1"/>
          <p:nvPr/>
        </p:nvSpPr>
        <p:spPr>
          <a:xfrm>
            <a:off x="3468075" y="5432357"/>
            <a:ext cx="11351851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2162938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fel@vlute.edu.vn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8386332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https://vlute.edu.vn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4" name="Google Shape;84;p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 rot="5400000">
            <a:off x="17110809" y="8144837"/>
            <a:ext cx="586784" cy="1553028"/>
            <a:chOff x="0" y="-47625"/>
            <a:chExt cx="103692" cy="274439"/>
          </a:xfrm>
        </p:grpSpPr>
        <p:sp>
          <p:nvSpPr>
            <p:cNvPr id="86" name="Google Shape;86;p1"/>
            <p:cNvSpPr/>
            <p:nvPr/>
          </p:nvSpPr>
          <p:spPr>
            <a:xfrm>
              <a:off x="0" y="0"/>
              <a:ext cx="103692" cy="226814"/>
            </a:xfrm>
            <a:custGeom>
              <a:avLst/>
              <a:gdLst/>
              <a:ahLst/>
              <a:cxnLst/>
              <a:rect l="l" t="t" r="r" b="b"/>
              <a:pathLst>
                <a:path w="103692" h="226814" extrusionOk="0">
                  <a:moveTo>
                    <a:pt x="51846" y="0"/>
                  </a:moveTo>
                  <a:lnTo>
                    <a:pt x="51846" y="0"/>
                  </a:lnTo>
                  <a:cubicBezTo>
                    <a:pt x="80480" y="0"/>
                    <a:pt x="103692" y="23212"/>
                    <a:pt x="103692" y="51846"/>
                  </a:cubicBezTo>
                  <a:lnTo>
                    <a:pt x="103692" y="174968"/>
                  </a:lnTo>
                  <a:cubicBezTo>
                    <a:pt x="103692" y="188718"/>
                    <a:pt x="98229" y="201906"/>
                    <a:pt x="88507" y="211629"/>
                  </a:cubicBezTo>
                  <a:cubicBezTo>
                    <a:pt x="78784" y="221352"/>
                    <a:pt x="65596" y="226814"/>
                    <a:pt x="51846" y="226814"/>
                  </a:cubicBezTo>
                  <a:lnTo>
                    <a:pt x="51846" y="226814"/>
                  </a:lnTo>
                  <a:cubicBezTo>
                    <a:pt x="38096" y="226814"/>
                    <a:pt x="24908" y="221352"/>
                    <a:pt x="15185" y="211629"/>
                  </a:cubicBezTo>
                  <a:cubicBezTo>
                    <a:pt x="5462" y="201906"/>
                    <a:pt x="0" y="188718"/>
                    <a:pt x="0" y="174968"/>
                  </a:cubicBezTo>
                  <a:lnTo>
                    <a:pt x="0" y="51846"/>
                  </a:lnTo>
                  <a:cubicBezTo>
                    <a:pt x="0" y="38096"/>
                    <a:pt x="5462" y="24908"/>
                    <a:pt x="15185" y="15185"/>
                  </a:cubicBezTo>
                  <a:cubicBezTo>
                    <a:pt x="24908" y="5462"/>
                    <a:pt x="38096" y="0"/>
                    <a:pt x="51846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0" y="-47625"/>
              <a:ext cx="103692" cy="274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1"/>
          <p:cNvSpPr/>
          <p:nvPr/>
        </p:nvSpPr>
        <p:spPr>
          <a:xfrm>
            <a:off x="17093636" y="8765286"/>
            <a:ext cx="636457" cy="312129"/>
          </a:xfrm>
          <a:custGeom>
            <a:avLst/>
            <a:gdLst/>
            <a:ahLst/>
            <a:cxnLst/>
            <a:rect l="l" t="t" r="r" b="b"/>
            <a:pathLst>
              <a:path w="636457" h="312129" extrusionOk="0">
                <a:moveTo>
                  <a:pt x="0" y="0"/>
                </a:moveTo>
                <a:lnTo>
                  <a:pt x="636457" y="0"/>
                </a:lnTo>
                <a:lnTo>
                  <a:pt x="636457" y="312129"/>
                </a:lnTo>
                <a:lnTo>
                  <a:pt x="0" y="312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5486400" y="5143500"/>
            <a:ext cx="7315200" cy="185928"/>
          </a:xfrm>
          <a:custGeom>
            <a:avLst/>
            <a:gdLst/>
            <a:ahLst/>
            <a:cxnLst/>
            <a:rect l="l" t="t" r="r" b="b"/>
            <a:pathLst>
              <a:path w="7315200" h="185928" extrusionOk="0">
                <a:moveTo>
                  <a:pt x="0" y="0"/>
                </a:moveTo>
                <a:lnTo>
                  <a:pt x="7315200" y="0"/>
                </a:lnTo>
                <a:lnTo>
                  <a:pt x="7315200" y="185928"/>
                </a:lnTo>
                <a:lnTo>
                  <a:pt x="0" y="185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>
            <a:off x="1167947" y="7023032"/>
            <a:ext cx="584911" cy="466467"/>
          </a:xfrm>
          <a:custGeom>
            <a:avLst/>
            <a:gdLst/>
            <a:ahLst/>
            <a:cxnLst/>
            <a:rect l="l" t="t" r="r" b="b"/>
            <a:pathLst>
              <a:path w="584911" h="466467" extrusionOk="0">
                <a:moveTo>
                  <a:pt x="0" y="0"/>
                </a:moveTo>
                <a:lnTo>
                  <a:pt x="584912" y="0"/>
                </a:lnTo>
                <a:lnTo>
                  <a:pt x="584912" y="466466"/>
                </a:lnTo>
                <a:lnTo>
                  <a:pt x="0" y="466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167947" y="7951728"/>
            <a:ext cx="561989" cy="425004"/>
          </a:xfrm>
          <a:custGeom>
            <a:avLst/>
            <a:gdLst/>
            <a:ahLst/>
            <a:cxnLst/>
            <a:rect l="l" t="t" r="r" b="b"/>
            <a:pathLst>
              <a:path w="561989" h="425004" extrusionOk="0">
                <a:moveTo>
                  <a:pt x="0" y="0"/>
                </a:moveTo>
                <a:lnTo>
                  <a:pt x="561990" y="0"/>
                </a:lnTo>
                <a:lnTo>
                  <a:pt x="561990" y="425005"/>
                </a:lnTo>
                <a:lnTo>
                  <a:pt x="0" y="425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>
            <a:off x="1253735" y="8706108"/>
            <a:ext cx="356164" cy="552192"/>
          </a:xfrm>
          <a:custGeom>
            <a:avLst/>
            <a:gdLst/>
            <a:ahLst/>
            <a:cxnLst/>
            <a:rect l="l" t="t" r="r" b="b"/>
            <a:pathLst>
              <a:path w="356164" h="552192" extrusionOk="0">
                <a:moveTo>
                  <a:pt x="0" y="0"/>
                </a:moveTo>
                <a:lnTo>
                  <a:pt x="356164" y="0"/>
                </a:lnTo>
                <a:lnTo>
                  <a:pt x="356164" y="552192"/>
                </a:lnTo>
                <a:lnTo>
                  <a:pt x="0" y="552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9" name="Google Shape;99;p1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13868399" y="6183888"/>
            <a:ext cx="3691585" cy="3379212"/>
          </a:xfrm>
          <a:custGeom>
            <a:avLst/>
            <a:gdLst/>
            <a:ahLst/>
            <a:cxnLst/>
            <a:rect l="l" t="t" r="r" b="b"/>
            <a:pathLst>
              <a:path w="5247142" h="5122522" extrusionOk="0">
                <a:moveTo>
                  <a:pt x="0" y="0"/>
                </a:moveTo>
                <a:lnTo>
                  <a:pt x="5247142" y="0"/>
                </a:lnTo>
                <a:lnTo>
                  <a:pt x="5247142" y="5122522"/>
                </a:lnTo>
                <a:lnTo>
                  <a:pt x="0" y="51225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06" name="Google Shape;106;p1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08" name="Google Shape;108;p1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"/>
          <p:cNvSpPr txBox="1"/>
          <p:nvPr/>
        </p:nvSpPr>
        <p:spPr>
          <a:xfrm>
            <a:off x="1864602" y="2487301"/>
            <a:ext cx="1476308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 smtClean="0">
                <a:solidFill>
                  <a:srgbClr val="FFFFFF"/>
                </a:solidFill>
                <a:latin typeface="+mj-lt"/>
                <a:ea typeface="Roboto"/>
                <a:sym typeface="Roboto"/>
              </a:rPr>
              <a:t>KỸ NĂNG GIAO TIẾP VÀ SOẠN THẢO VĂN BẢN</a:t>
            </a:r>
            <a:endParaRPr dirty="0">
              <a:latin typeface="+mj-lt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3250604" y="3848100"/>
            <a:ext cx="11351851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dirty="0"/>
              <a:t>CHƯƠNG 4: SOẠN THẢO VÀ TRÌNH BÀY VĂN BẢN</a:t>
            </a:r>
            <a:endParaRPr dirty="0"/>
          </a:p>
        </p:txBody>
      </p:sp>
      <p:sp>
        <p:nvSpPr>
          <p:cNvPr id="112" name="Google Shape;112;p1"/>
          <p:cNvSpPr txBox="1"/>
          <p:nvPr/>
        </p:nvSpPr>
        <p:spPr>
          <a:xfrm>
            <a:off x="1990853" y="7039233"/>
            <a:ext cx="905876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Bộ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0" i="0" u="none" strike="noStrike" cap="none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môn</a:t>
            </a:r>
            <a:r>
              <a:rPr lang="en-US" sz="27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Kinh</a:t>
            </a:r>
            <a:r>
              <a:rPr lang="en-US" sz="2700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dirty="0" err="1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tế</a:t>
            </a:r>
            <a:endParaRPr dirty="0"/>
          </a:p>
        </p:txBody>
      </p:sp>
      <p:sp>
        <p:nvSpPr>
          <p:cNvPr id="113" name="Google Shape;113;p1"/>
          <p:cNvSpPr txBox="1"/>
          <p:nvPr/>
        </p:nvSpPr>
        <p:spPr>
          <a:xfrm>
            <a:off x="1990853" y="7894578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Khoa: Kinh tế - Luật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1990853" y="8749923"/>
            <a:ext cx="9058764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8994595" y="96052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612388" y="9702991"/>
            <a:ext cx="9058764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-34274" y="-34151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24" name="Google Shape;124;p2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3962400" y="1044402"/>
            <a:ext cx="10820400" cy="1457539"/>
            <a:chOff x="0" y="-47625"/>
            <a:chExt cx="2140304" cy="383879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2140304" cy="336254"/>
            </a:xfrm>
            <a:custGeom>
              <a:avLst/>
              <a:gdLst/>
              <a:ahLst/>
              <a:cxnLst/>
              <a:rect l="l" t="t" r="r" b="b"/>
              <a:pathLst>
                <a:path w="2140304" h="336254" extrusionOk="0">
                  <a:moveTo>
                    <a:pt x="16196" y="0"/>
                  </a:moveTo>
                  <a:lnTo>
                    <a:pt x="2124108" y="0"/>
                  </a:lnTo>
                  <a:cubicBezTo>
                    <a:pt x="2128403" y="0"/>
                    <a:pt x="2132523" y="1706"/>
                    <a:pt x="2135560" y="4744"/>
                  </a:cubicBezTo>
                  <a:cubicBezTo>
                    <a:pt x="2138597" y="7781"/>
                    <a:pt x="2140304" y="11900"/>
                    <a:pt x="2140304" y="16196"/>
                  </a:cubicBezTo>
                  <a:lnTo>
                    <a:pt x="2140304" y="320058"/>
                  </a:lnTo>
                  <a:cubicBezTo>
                    <a:pt x="2140304" y="324353"/>
                    <a:pt x="2138597" y="328473"/>
                    <a:pt x="2135560" y="331510"/>
                  </a:cubicBezTo>
                  <a:cubicBezTo>
                    <a:pt x="2132523" y="334547"/>
                    <a:pt x="2128403" y="336254"/>
                    <a:pt x="2124108" y="336254"/>
                  </a:cubicBezTo>
                  <a:lnTo>
                    <a:pt x="16196" y="336254"/>
                  </a:lnTo>
                  <a:cubicBezTo>
                    <a:pt x="7251" y="336254"/>
                    <a:pt x="0" y="329003"/>
                    <a:pt x="0" y="320058"/>
                  </a:cubicBezTo>
                  <a:lnTo>
                    <a:pt x="0" y="16196"/>
                  </a:lnTo>
                  <a:cubicBezTo>
                    <a:pt x="0" y="11900"/>
                    <a:pt x="1706" y="7781"/>
                    <a:pt x="4744" y="4744"/>
                  </a:cubicBezTo>
                  <a:cubicBezTo>
                    <a:pt x="7781" y="1706"/>
                    <a:pt x="11900" y="0"/>
                    <a:pt x="16196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 txBox="1"/>
            <p:nvPr/>
          </p:nvSpPr>
          <p:spPr>
            <a:xfrm>
              <a:off x="0" y="-47625"/>
              <a:ext cx="2140304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"/>
          <p:cNvSpPr/>
          <p:nvPr/>
        </p:nvSpPr>
        <p:spPr>
          <a:xfrm>
            <a:off x="4326519" y="1394670"/>
            <a:ext cx="904060" cy="857727"/>
          </a:xfrm>
          <a:custGeom>
            <a:avLst/>
            <a:gdLst/>
            <a:ahLst/>
            <a:cxnLst/>
            <a:rect l="l" t="t" r="r" b="b"/>
            <a:pathLst>
              <a:path w="904060" h="857727" extrusionOk="0">
                <a:moveTo>
                  <a:pt x="0" y="0"/>
                </a:moveTo>
                <a:lnTo>
                  <a:pt x="904060" y="0"/>
                </a:lnTo>
                <a:lnTo>
                  <a:pt x="904060" y="857727"/>
                </a:lnTo>
                <a:lnTo>
                  <a:pt x="0" y="857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2"/>
          <p:cNvSpPr/>
          <p:nvPr/>
        </p:nvSpPr>
        <p:spPr>
          <a:xfrm>
            <a:off x="1603725" y="4462563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2"/>
          <p:cNvCxnSpPr/>
          <p:nvPr/>
        </p:nvCxnSpPr>
        <p:spPr>
          <a:xfrm>
            <a:off x="5897880" y="27813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2"/>
          <p:cNvCxnSpPr/>
          <p:nvPr/>
        </p:nvCxnSpPr>
        <p:spPr>
          <a:xfrm>
            <a:off x="9144000" y="4223917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2"/>
          <p:cNvSpPr/>
          <p:nvPr/>
        </p:nvSpPr>
        <p:spPr>
          <a:xfrm>
            <a:off x="1603725" y="5434798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1603725" y="640663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5410200" y="1444484"/>
            <a:ext cx="9906000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MỤC TIÊU CHƯƠNG 4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2506246" y="44948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Hiểu được khái niệm, vai trò và cách phân loại văn bản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2506246" y="5473993"/>
            <a:ext cx="5401696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Phân tích yêu cầu nội dung và 9 thành phần thể thức theo Nghị định 30/2020/NĐ-CP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2506246" y="644582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Vận dụng soạn thảo các văn bản hành chính và thương mại thông dụng</a:t>
            </a:r>
            <a:endParaRPr/>
          </a:p>
        </p:txBody>
      </p:sp>
      <p:sp>
        <p:nvSpPr>
          <p:cNvPr id="145" name="Google Shape;145;p2"/>
          <p:cNvSpPr/>
          <p:nvPr/>
        </p:nvSpPr>
        <p:spPr>
          <a:xfrm>
            <a:off x="1603725" y="737846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6" name="Google Shape;146;p2"/>
          <p:cNvSpPr txBox="1"/>
          <p:nvPr/>
        </p:nvSpPr>
        <p:spPr>
          <a:xfrm>
            <a:off x="2506246" y="7424996"/>
            <a:ext cx="356173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Giải quyết tình huống soạn thảo trong môi trường công sở – kinh doanh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10043901" y="4060809"/>
            <a:ext cx="7120190" cy="4930732"/>
          </a:xfrm>
          <a:custGeom>
            <a:avLst/>
            <a:gdLst/>
            <a:ahLst/>
            <a:cxnLst/>
            <a:rect l="l" t="t" r="r" b="b"/>
            <a:pathLst>
              <a:path w="7120190" h="4930732" extrusionOk="0">
                <a:moveTo>
                  <a:pt x="0" y="0"/>
                </a:moveTo>
                <a:lnTo>
                  <a:pt x="7120190" y="0"/>
                </a:lnTo>
                <a:lnTo>
                  <a:pt x="7120190" y="4930732"/>
                </a:lnTo>
                <a:lnTo>
                  <a:pt x="0" y="49307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8" name="Google Shape;148;p2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149" name="Google Shape;149;p2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150" name="Google Shape;150;p2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2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153" name="Google Shape;153;p2"/>
          <p:cNvSpPr/>
          <p:nvPr/>
        </p:nvSpPr>
        <p:spPr>
          <a:xfrm>
            <a:off x="59209" y="0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58" name="Google Shape;158;p3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159" name="Google Shape;159;p3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0" name="Google Shape;160;p3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3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162" name="Google Shape;162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3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5" name="Google Shape;165;p3"/>
          <p:cNvGrpSpPr/>
          <p:nvPr/>
        </p:nvGrpSpPr>
        <p:grpSpPr>
          <a:xfrm rot="-5400000">
            <a:off x="16208572" y="599911"/>
            <a:ext cx="1360170" cy="1302075"/>
            <a:chOff x="0" y="-47625"/>
            <a:chExt cx="514082" cy="492125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514082" cy="444500"/>
            </a:xfrm>
            <a:custGeom>
              <a:avLst/>
              <a:gdLst/>
              <a:ahLst/>
              <a:cxnLst/>
              <a:rect l="l" t="t" r="r" b="b"/>
              <a:pathLst>
                <a:path w="514082" h="444500" extrusionOk="0">
                  <a:moveTo>
                    <a:pt x="405136" y="0"/>
                  </a:moveTo>
                  <a:lnTo>
                    <a:pt x="108946" y="0"/>
                  </a:lnTo>
                  <a:cubicBezTo>
                    <a:pt x="80052" y="0"/>
                    <a:pt x="52341" y="11478"/>
                    <a:pt x="31910" y="31910"/>
                  </a:cubicBezTo>
                  <a:cubicBezTo>
                    <a:pt x="11478" y="52341"/>
                    <a:pt x="0" y="80052"/>
                    <a:pt x="0" y="108946"/>
                  </a:cubicBezTo>
                  <a:lnTo>
                    <a:pt x="0" y="398743"/>
                  </a:lnTo>
                  <a:cubicBezTo>
                    <a:pt x="27345" y="433272"/>
                    <a:pt x="114848" y="481613"/>
                    <a:pt x="246103" y="398743"/>
                  </a:cubicBezTo>
                  <a:cubicBezTo>
                    <a:pt x="377358" y="315872"/>
                    <a:pt x="479446" y="364213"/>
                    <a:pt x="514082" y="398743"/>
                  </a:cubicBezTo>
                  <a:lnTo>
                    <a:pt x="514082" y="108946"/>
                  </a:lnTo>
                  <a:cubicBezTo>
                    <a:pt x="514082" y="80052"/>
                    <a:pt x="502604" y="52341"/>
                    <a:pt x="482173" y="31910"/>
                  </a:cubicBezTo>
                  <a:cubicBezTo>
                    <a:pt x="461741" y="11478"/>
                    <a:pt x="434030" y="0"/>
                    <a:pt x="405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47625"/>
              <a:ext cx="514082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3883202" y="1255649"/>
            <a:ext cx="11280598" cy="1457539"/>
            <a:chOff x="-137192" y="-47625"/>
            <a:chExt cx="2467893" cy="383879"/>
          </a:xfrm>
        </p:grpSpPr>
        <p:sp>
          <p:nvSpPr>
            <p:cNvPr id="169" name="Google Shape;169;p3"/>
            <p:cNvSpPr/>
            <p:nvPr/>
          </p:nvSpPr>
          <p:spPr>
            <a:xfrm>
              <a:off x="-137192" y="0"/>
              <a:ext cx="2467893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71" name="Google Shape;171;p3"/>
          <p:cNvCxnSpPr/>
          <p:nvPr/>
        </p:nvCxnSpPr>
        <p:spPr>
          <a:xfrm>
            <a:off x="6146416" y="2933700"/>
            <a:ext cx="6492240" cy="0"/>
          </a:xfrm>
          <a:prstGeom prst="straightConnector1">
            <a:avLst/>
          </a:prstGeom>
          <a:noFill/>
          <a:ln w="85725" cap="flat" cmpd="sng">
            <a:solidFill>
              <a:srgbClr val="FCEE7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2" name="Google Shape;172;p3"/>
          <p:cNvSpPr/>
          <p:nvPr/>
        </p:nvSpPr>
        <p:spPr>
          <a:xfrm>
            <a:off x="4171991" y="1658458"/>
            <a:ext cx="1009452" cy="716711"/>
          </a:xfrm>
          <a:custGeom>
            <a:avLst/>
            <a:gdLst/>
            <a:ahLst/>
            <a:cxnLst/>
            <a:rect l="l" t="t" r="r" b="b"/>
            <a:pathLst>
              <a:path w="1009452" h="716711" extrusionOk="0">
                <a:moveTo>
                  <a:pt x="0" y="0"/>
                </a:moveTo>
                <a:lnTo>
                  <a:pt x="1009452" y="0"/>
                </a:lnTo>
                <a:lnTo>
                  <a:pt x="1009452" y="716711"/>
                </a:lnTo>
                <a:lnTo>
                  <a:pt x="0" y="716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3" name="Google Shape;173;p3"/>
          <p:cNvGrpSpPr/>
          <p:nvPr/>
        </p:nvGrpSpPr>
        <p:grpSpPr>
          <a:xfrm>
            <a:off x="1451168" y="3873784"/>
            <a:ext cx="688429" cy="688429"/>
            <a:chOff x="0" y="0"/>
            <a:chExt cx="812800" cy="812800"/>
          </a:xfrm>
        </p:grpSpPr>
        <p:sp>
          <p:nvSpPr>
            <p:cNvPr id="174" name="Google Shape;17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6" name="Google Shape;176;p3"/>
          <p:cNvGrpSpPr/>
          <p:nvPr/>
        </p:nvGrpSpPr>
        <p:grpSpPr>
          <a:xfrm>
            <a:off x="1475996" y="4982975"/>
            <a:ext cx="688429" cy="688429"/>
            <a:chOff x="0" y="0"/>
            <a:chExt cx="812800" cy="812800"/>
          </a:xfrm>
        </p:grpSpPr>
        <p:sp>
          <p:nvSpPr>
            <p:cNvPr id="177" name="Google Shape;177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3"/>
          <p:cNvGrpSpPr/>
          <p:nvPr/>
        </p:nvGrpSpPr>
        <p:grpSpPr>
          <a:xfrm>
            <a:off x="1522086" y="6134690"/>
            <a:ext cx="688429" cy="688429"/>
            <a:chOff x="0" y="0"/>
            <a:chExt cx="812800" cy="812800"/>
          </a:xfrm>
        </p:grpSpPr>
        <p:sp>
          <p:nvSpPr>
            <p:cNvPr id="180" name="Google Shape;180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1522086" y="7289845"/>
            <a:ext cx="688429" cy="688429"/>
            <a:chOff x="0" y="0"/>
            <a:chExt cx="812800" cy="812800"/>
          </a:xfrm>
        </p:grpSpPr>
        <p:sp>
          <p:nvSpPr>
            <p:cNvPr id="183" name="Google Shape;183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3"/>
          <p:cNvGrpSpPr/>
          <p:nvPr/>
        </p:nvGrpSpPr>
        <p:grpSpPr>
          <a:xfrm>
            <a:off x="1522086" y="8483099"/>
            <a:ext cx="688429" cy="688429"/>
            <a:chOff x="0" y="0"/>
            <a:chExt cx="812800" cy="812800"/>
          </a:xfrm>
        </p:grpSpPr>
        <p:sp>
          <p:nvSpPr>
            <p:cNvPr id="186" name="Google Shape;186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E6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3"/>
          <p:cNvSpPr/>
          <p:nvPr/>
        </p:nvSpPr>
        <p:spPr>
          <a:xfrm>
            <a:off x="10043901" y="4157032"/>
            <a:ext cx="7554796" cy="5014496"/>
          </a:xfrm>
          <a:custGeom>
            <a:avLst/>
            <a:gdLst/>
            <a:ahLst/>
            <a:cxnLst/>
            <a:rect l="l" t="t" r="r" b="b"/>
            <a:pathLst>
              <a:path w="7554796" h="5014496" extrusionOk="0">
                <a:moveTo>
                  <a:pt x="0" y="0"/>
                </a:moveTo>
                <a:lnTo>
                  <a:pt x="7554795" y="0"/>
                </a:lnTo>
                <a:lnTo>
                  <a:pt x="7554795" y="5014496"/>
                </a:lnTo>
                <a:lnTo>
                  <a:pt x="0" y="501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9" name="Google Shape;189;p3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5519751" y="1619706"/>
            <a:ext cx="10453766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CHƯƠNG 4</a:t>
            </a:r>
            <a:endParaRPr sz="50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1607633" y="3885650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2532103" y="3992766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Khái niệm và phân loại văn bản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1632461" y="499484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195" name="Google Shape;195;p3"/>
          <p:cNvSpPr txBox="1"/>
          <p:nvPr/>
        </p:nvSpPr>
        <p:spPr>
          <a:xfrm>
            <a:off x="1678551" y="6146556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1678551" y="7301711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1678551" y="8494965"/>
            <a:ext cx="375498" cy="58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2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2532103" y="504993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Các yêu cầu về nội dung và thể thức văn bản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2552154" y="617410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văn bản hành chính thông dụng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2532103" y="732925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văn bản thương mại</a:t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2532103" y="8453209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/>
          </a:p>
        </p:txBody>
      </p:sp>
      <p:grpSp>
        <p:nvGrpSpPr>
          <p:cNvPr id="202" name="Google Shape;202;p3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203" name="Google Shape;203;p3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204" name="Google Shape;204;p3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5" name="Google Shape;205;p3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4.1. KHÁI NIỆM VÀ PHÂN LOẠI VĂN BẢN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Văn bản: phương tiện ghi và truyền đạt thông tin bằng ngôn ngữ hoặc ký hiệu nhất định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Vai trò: công cụ quản lý, giao dịch và lưu trữ thông tin chính thức của tổ chức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Phân loại theo NĐ 30/2020: văn bản hành chính và văn bản chuyên ngành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Nhóm thông dụng: Quyết định, Công văn, Tờ trình, Biên bản, Báo cáo, Thông báo…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Khái niệm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Vai trò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Phân loại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Ví dụ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4.2. YÊU CẦU VỀ NỘI DUNG VÀ THỂ THỨC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Nội dung: đúng thẩm quyền, đúng pháp luật, rõ ràng, súc tích, đủ ý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 thành phần thể thức bắt buộc theo Nghị định 30/2020/NĐ-CP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Kỹ thuật trình bày: khổ A4, phông Times New Roman cỡ 13–14, canh lề chuẩn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Nguyên tắc: thống nhất, chính xác, trang trọng và lịch sự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Thể thức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Kỹ thuật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Lưu ý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4.3. SOẠN THẢO VĂN BẢN HÀNH CHÍNH THÔNG DỤNG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Quyết định: văn bản cá biệt, bố cục Căn cứ – Quyết định – Điều khoản thi hành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Công văn: trao đổi, đề nghị, trả lời công việc; có trích yếu nội dung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Tờ trình: đề xuất cấp trên xem xét, phê duyệt một nội dung cụ thể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Biên bản và Báo cáo: ghi nhận sự việc / tổng hợp, đánh giá tình hình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Quyết định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Công văn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Tờ trình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Biên bản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4.4. SOẠN THẢO VĂN BẢN THƯƠNG MẠI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Khái niệm: văn bản phục vụ giao dịch kinh doanh giữa các chủ thể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Thư tín thương mại: chào hàng, hỏi hàng, đặt hàng, khiếu nại, phúc đáp…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Báo giá: cung cấp thông tin giá và điều kiện mua bán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Hợp đồng, biên bản nghiệm thu và thanh lý hợp đồng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Khái niệm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Thư tín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Báo giá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Hợp đồng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8" name="Google Shape;308;p7"/>
          <p:cNvSpPr/>
          <p:nvPr/>
        </p:nvSpPr>
        <p:spPr>
          <a:xfrm>
            <a:off x="4770773" y="2007099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09" name="Google Shape;309;p7"/>
          <p:cNvGrpSpPr/>
          <p:nvPr/>
        </p:nvGrpSpPr>
        <p:grpSpPr>
          <a:xfrm>
            <a:off x="2795670" y="1093906"/>
            <a:ext cx="12995470" cy="1457539"/>
            <a:chOff x="0" y="-47625"/>
            <a:chExt cx="3422675" cy="383879"/>
          </a:xfrm>
        </p:grpSpPr>
        <p:sp>
          <p:nvSpPr>
            <p:cNvPr id="310" name="Google Shape;310;p7"/>
            <p:cNvSpPr/>
            <p:nvPr/>
          </p:nvSpPr>
          <p:spPr>
            <a:xfrm>
              <a:off x="0" y="0"/>
              <a:ext cx="3422675" cy="336254"/>
            </a:xfrm>
            <a:custGeom>
              <a:avLst/>
              <a:gdLst/>
              <a:ahLst/>
              <a:cxnLst/>
              <a:rect l="l" t="t" r="r" b="b"/>
              <a:pathLst>
                <a:path w="3422675" h="336254" extrusionOk="0">
                  <a:moveTo>
                    <a:pt x="10128" y="0"/>
                  </a:moveTo>
                  <a:lnTo>
                    <a:pt x="3412548" y="0"/>
                  </a:lnTo>
                  <a:cubicBezTo>
                    <a:pt x="3418141" y="0"/>
                    <a:pt x="3422675" y="4534"/>
                    <a:pt x="3422675" y="10128"/>
                  </a:cubicBezTo>
                  <a:lnTo>
                    <a:pt x="3422675" y="326126"/>
                  </a:lnTo>
                  <a:cubicBezTo>
                    <a:pt x="3422675" y="328812"/>
                    <a:pt x="3421608" y="331388"/>
                    <a:pt x="3419709" y="333287"/>
                  </a:cubicBezTo>
                  <a:cubicBezTo>
                    <a:pt x="3417810" y="335187"/>
                    <a:pt x="3415234" y="336254"/>
                    <a:pt x="3412548" y="336254"/>
                  </a:cubicBezTo>
                  <a:lnTo>
                    <a:pt x="10128" y="336254"/>
                  </a:lnTo>
                  <a:cubicBezTo>
                    <a:pt x="4534" y="336254"/>
                    <a:pt x="0" y="331719"/>
                    <a:pt x="0" y="326126"/>
                  </a:cubicBezTo>
                  <a:lnTo>
                    <a:pt x="0" y="10128"/>
                  </a:lnTo>
                  <a:cubicBezTo>
                    <a:pt x="0" y="4534"/>
                    <a:pt x="4534" y="0"/>
                    <a:pt x="10128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0" y="-47625"/>
              <a:ext cx="3422675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7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8" name="Google Shape;318;p7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19" name="Google Shape;319;p7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20" name="Google Shape;320;p7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7"/>
          <p:cNvGrpSpPr/>
          <p:nvPr/>
        </p:nvGrpSpPr>
        <p:grpSpPr>
          <a:xfrm>
            <a:off x="537593" y="3162569"/>
            <a:ext cx="7295981" cy="3500808"/>
            <a:chOff x="0" y="-47625"/>
            <a:chExt cx="1921575" cy="922024"/>
          </a:xfrm>
        </p:grpSpPr>
        <p:sp>
          <p:nvSpPr>
            <p:cNvPr id="322" name="Google Shape;322;p7"/>
            <p:cNvSpPr/>
            <p:nvPr/>
          </p:nvSpPr>
          <p:spPr>
            <a:xfrm>
              <a:off x="0" y="0"/>
              <a:ext cx="1921575" cy="874399"/>
            </a:xfrm>
            <a:custGeom>
              <a:avLst/>
              <a:gdLst/>
              <a:ahLst/>
              <a:cxnLst/>
              <a:rect l="l" t="t" r="r" b="b"/>
              <a:pathLst>
                <a:path w="1921575" h="874399" extrusionOk="0">
                  <a:moveTo>
                    <a:pt x="20161" y="0"/>
                  </a:moveTo>
                  <a:lnTo>
                    <a:pt x="1901414" y="0"/>
                  </a:lnTo>
                  <a:cubicBezTo>
                    <a:pt x="1912549" y="0"/>
                    <a:pt x="1921575" y="9027"/>
                    <a:pt x="1921575" y="20161"/>
                  </a:cubicBezTo>
                  <a:lnTo>
                    <a:pt x="1921575" y="854237"/>
                  </a:lnTo>
                  <a:cubicBezTo>
                    <a:pt x="1921575" y="865372"/>
                    <a:pt x="1912549" y="874399"/>
                    <a:pt x="1901414" y="874399"/>
                  </a:cubicBezTo>
                  <a:lnTo>
                    <a:pt x="20161" y="874399"/>
                  </a:lnTo>
                  <a:cubicBezTo>
                    <a:pt x="9027" y="874399"/>
                    <a:pt x="0" y="865372"/>
                    <a:pt x="0" y="854237"/>
                  </a:cubicBezTo>
                  <a:lnTo>
                    <a:pt x="0" y="20161"/>
                  </a:lnTo>
                  <a:cubicBezTo>
                    <a:pt x="0" y="9027"/>
                    <a:pt x="9027" y="0"/>
                    <a:pt x="20161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 txBox="1"/>
            <p:nvPr/>
          </p:nvSpPr>
          <p:spPr>
            <a:xfrm>
              <a:off x="0" y="-47625"/>
              <a:ext cx="1921575" cy="9220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7"/>
          <p:cNvGrpSpPr/>
          <p:nvPr/>
        </p:nvGrpSpPr>
        <p:grpSpPr>
          <a:xfrm>
            <a:off x="6528716" y="6939518"/>
            <a:ext cx="5008011" cy="1059797"/>
            <a:chOff x="0" y="-76200"/>
            <a:chExt cx="1949025" cy="412454"/>
          </a:xfrm>
        </p:grpSpPr>
        <p:sp>
          <p:nvSpPr>
            <p:cNvPr id="325" name="Google Shape;325;p7"/>
            <p:cNvSpPr/>
            <p:nvPr/>
          </p:nvSpPr>
          <p:spPr>
            <a:xfrm>
              <a:off x="0" y="0"/>
              <a:ext cx="1949025" cy="336254"/>
            </a:xfrm>
            <a:custGeom>
              <a:avLst/>
              <a:gdLst/>
              <a:ahLst/>
              <a:cxnLst/>
              <a:rect l="l" t="t" r="r" b="b"/>
              <a:pathLst>
                <a:path w="1949025" h="336254" extrusionOk="0">
                  <a:moveTo>
                    <a:pt x="26280" y="0"/>
                  </a:moveTo>
                  <a:lnTo>
                    <a:pt x="1922745" y="0"/>
                  </a:lnTo>
                  <a:cubicBezTo>
                    <a:pt x="1929715" y="0"/>
                    <a:pt x="1936399" y="2769"/>
                    <a:pt x="1941328" y="7697"/>
                  </a:cubicBezTo>
                  <a:cubicBezTo>
                    <a:pt x="1946256" y="12626"/>
                    <a:pt x="1949025" y="19310"/>
                    <a:pt x="1949025" y="26280"/>
                  </a:cubicBezTo>
                  <a:lnTo>
                    <a:pt x="1949025" y="309973"/>
                  </a:lnTo>
                  <a:cubicBezTo>
                    <a:pt x="1949025" y="316943"/>
                    <a:pt x="1946256" y="323628"/>
                    <a:pt x="1941328" y="328556"/>
                  </a:cubicBezTo>
                  <a:cubicBezTo>
                    <a:pt x="1936399" y="333485"/>
                    <a:pt x="1929715" y="336254"/>
                    <a:pt x="1922745" y="336254"/>
                  </a:cubicBezTo>
                  <a:lnTo>
                    <a:pt x="26280" y="336254"/>
                  </a:lnTo>
                  <a:cubicBezTo>
                    <a:pt x="19310" y="336254"/>
                    <a:pt x="12626" y="333485"/>
                    <a:pt x="7697" y="328556"/>
                  </a:cubicBezTo>
                  <a:cubicBezTo>
                    <a:pt x="2769" y="323628"/>
                    <a:pt x="0" y="316943"/>
                    <a:pt x="0" y="309973"/>
                  </a:cubicBezTo>
                  <a:lnTo>
                    <a:pt x="0" y="26280"/>
                  </a:lnTo>
                  <a:cubicBezTo>
                    <a:pt x="0" y="19310"/>
                    <a:pt x="2769" y="12626"/>
                    <a:pt x="7697" y="7697"/>
                  </a:cubicBezTo>
                  <a:cubicBezTo>
                    <a:pt x="12626" y="2769"/>
                    <a:pt x="19310" y="0"/>
                    <a:pt x="26280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0E514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7"/>
            <p:cNvSpPr txBox="1"/>
            <p:nvPr/>
          </p:nvSpPr>
          <p:spPr>
            <a:xfrm>
              <a:off x="0" y="-76200"/>
              <a:ext cx="1949025" cy="412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7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7"/>
          <p:cNvGrpSpPr/>
          <p:nvPr/>
        </p:nvGrpSpPr>
        <p:grpSpPr>
          <a:xfrm>
            <a:off x="1201080" y="8654813"/>
            <a:ext cx="547366" cy="547366"/>
            <a:chOff x="0" y="0"/>
            <a:chExt cx="812800" cy="812800"/>
          </a:xfrm>
        </p:grpSpPr>
        <p:sp>
          <p:nvSpPr>
            <p:cNvPr id="328" name="Google Shape;328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A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7"/>
          <p:cNvGrpSpPr/>
          <p:nvPr/>
        </p:nvGrpSpPr>
        <p:grpSpPr>
          <a:xfrm>
            <a:off x="7410614" y="8609730"/>
            <a:ext cx="547366" cy="547366"/>
            <a:chOff x="0" y="0"/>
            <a:chExt cx="812800" cy="812800"/>
          </a:xfrm>
        </p:grpSpPr>
        <p:sp>
          <p:nvSpPr>
            <p:cNvPr id="331" name="Google Shape;331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7"/>
          <p:cNvGrpSpPr/>
          <p:nvPr/>
        </p:nvGrpSpPr>
        <p:grpSpPr>
          <a:xfrm>
            <a:off x="13620147" y="8654813"/>
            <a:ext cx="547366" cy="547366"/>
            <a:chOff x="0" y="0"/>
            <a:chExt cx="812800" cy="812800"/>
          </a:xfrm>
        </p:grpSpPr>
        <p:sp>
          <p:nvSpPr>
            <p:cNvPr id="334" name="Google Shape;334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1B5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7"/>
          <p:cNvSpPr/>
          <p:nvPr/>
        </p:nvSpPr>
        <p:spPr>
          <a:xfrm>
            <a:off x="9217852" y="2762764"/>
            <a:ext cx="7965895" cy="3524909"/>
          </a:xfrm>
          <a:custGeom>
            <a:avLst/>
            <a:gdLst/>
            <a:ahLst/>
            <a:cxnLst/>
            <a:rect l="l" t="t" r="r" b="b"/>
            <a:pathLst>
              <a:path w="7965895" h="3524909" extrusionOk="0">
                <a:moveTo>
                  <a:pt x="0" y="0"/>
                </a:moveTo>
                <a:lnTo>
                  <a:pt x="7965895" y="0"/>
                </a:lnTo>
                <a:lnTo>
                  <a:pt x="7965895" y="3524908"/>
                </a:lnTo>
                <a:lnTo>
                  <a:pt x="0" y="3524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7" name="Google Shape;337;p7"/>
          <p:cNvSpPr txBox="1"/>
          <p:nvPr/>
        </p:nvSpPr>
        <p:spPr>
          <a:xfrm>
            <a:off x="3510248" y="1534946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CASE STUDY/ TÌNH HUỐNG THỰC TIỄN</a:t>
            </a:r>
            <a:endParaRPr/>
          </a:p>
        </p:txBody>
      </p:sp>
      <p:sp>
        <p:nvSpPr>
          <p:cNvPr id="338" name="Google Shape;338;p7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/>
          </a:p>
        </p:txBody>
      </p:sp>
      <p:sp>
        <p:nvSpPr>
          <p:cNvPr id="339" name="Google Shape;339;p7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40" name="Google Shape;340;p7"/>
          <p:cNvSpPr txBox="1"/>
          <p:nvPr/>
        </p:nvSpPr>
        <p:spPr>
          <a:xfrm>
            <a:off x="1467213" y="3631537"/>
            <a:ext cx="5061503" cy="679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TÌNH HUỐNG</a:t>
            </a:r>
            <a:endParaRPr/>
          </a:p>
        </p:txBody>
      </p:sp>
      <p:sp>
        <p:nvSpPr>
          <p:cNvPr id="341" name="Google Shape;341;p7"/>
          <p:cNvSpPr txBox="1"/>
          <p:nvPr/>
        </p:nvSpPr>
        <p:spPr>
          <a:xfrm>
            <a:off x="6932449" y="7271377"/>
            <a:ext cx="4604278" cy="56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CÂU HỎI PHÂN TÍCH</a:t>
            </a:r>
            <a:endParaRPr/>
          </a:p>
        </p:txBody>
      </p:sp>
      <p:sp>
        <p:nvSpPr>
          <p:cNvPr id="342" name="Google Shape;342;p7"/>
          <p:cNvSpPr txBox="1"/>
          <p:nvPr/>
        </p:nvSpPr>
        <p:spPr>
          <a:xfrm>
            <a:off x="1325485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/>
          </a:p>
        </p:txBody>
      </p:sp>
      <p:sp>
        <p:nvSpPr>
          <p:cNvPr id="343" name="Google Shape;343;p7"/>
          <p:cNvSpPr txBox="1"/>
          <p:nvPr/>
        </p:nvSpPr>
        <p:spPr>
          <a:xfrm>
            <a:off x="1929762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Cần soạn thảo những loại văn bản nào cho tình huống trên?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7"/>
          <p:cNvSpPr txBox="1"/>
          <p:nvPr/>
        </p:nvSpPr>
        <p:spPr>
          <a:xfrm>
            <a:off x="7535018" y="8622600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/>
          </a:p>
        </p:txBody>
      </p:sp>
      <p:sp>
        <p:nvSpPr>
          <p:cNvPr id="345" name="Google Shape;345;p7"/>
          <p:cNvSpPr txBox="1"/>
          <p:nvPr/>
        </p:nvSpPr>
        <p:spPr>
          <a:xfrm>
            <a:off x="8139296" y="8578613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Mỗi văn bản phải bảo đảm những thành phần thể thức bắt buộc nào?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13744552" y="8667683"/>
            <a:ext cx="298556" cy="46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7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/>
          </a:p>
        </p:txBody>
      </p:sp>
      <p:sp>
        <p:nvSpPr>
          <p:cNvPr id="347" name="Google Shape;347;p7"/>
          <p:cNvSpPr txBox="1"/>
          <p:nvPr/>
        </p:nvSpPr>
        <p:spPr>
          <a:xfrm>
            <a:off x="14348829" y="8623696"/>
            <a:ext cx="5061503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Những lỗi trình bày nào thường khiến văn bản bị trả lại?</a:t>
            </a:r>
            <a:endParaRPr sz="30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Google Shape;348;p7"/>
          <p:cNvSpPr txBox="1"/>
          <p:nvPr/>
        </p:nvSpPr>
        <p:spPr>
          <a:xfrm>
            <a:off x="853193" y="4529777"/>
            <a:ext cx="666478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Công ty TNHH An Phát cần bổ nhiệm một trưởng phòng kinh doanh mới và thông báo việc thay đổi đầu mối liên hệ đến các đối tác.</a:t>
            </a:r>
            <a:endParaRPr/>
          </a:p>
        </p:txBody>
      </p:sp>
      <p:sp>
        <p:nvSpPr>
          <p:cNvPr id="349" name="Google Shape;349;p7"/>
          <p:cNvSpPr txBox="1"/>
          <p:nvPr/>
        </p:nvSpPr>
        <p:spPr>
          <a:xfrm>
            <a:off x="1467213" y="9919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6" name="Google Shape;356;p8"/>
          <p:cNvSpPr/>
          <p:nvPr/>
        </p:nvSpPr>
        <p:spPr>
          <a:xfrm>
            <a:off x="-1955" y="-2794"/>
            <a:ext cx="1554792" cy="1417718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57" name="Google Shape;357;p8"/>
          <p:cNvSpPr/>
          <p:nvPr/>
        </p:nvSpPr>
        <p:spPr>
          <a:xfrm>
            <a:off x="4719313" y="1373538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4" y="0"/>
                </a:lnTo>
                <a:lnTo>
                  <a:pt x="8849374" y="1039801"/>
                </a:lnTo>
                <a:lnTo>
                  <a:pt x="0" y="1039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358" name="Google Shape;358;p8"/>
          <p:cNvGrpSpPr/>
          <p:nvPr/>
        </p:nvGrpSpPr>
        <p:grpSpPr>
          <a:xfrm>
            <a:off x="5143052" y="853975"/>
            <a:ext cx="6784530" cy="1457539"/>
            <a:chOff x="0" y="-47625"/>
            <a:chExt cx="1786872" cy="383879"/>
          </a:xfrm>
        </p:grpSpPr>
        <p:sp>
          <p:nvSpPr>
            <p:cNvPr id="359" name="Google Shape;359;p8"/>
            <p:cNvSpPr/>
            <p:nvPr/>
          </p:nvSpPr>
          <p:spPr>
            <a:xfrm>
              <a:off x="0" y="0"/>
              <a:ext cx="1786872" cy="336254"/>
            </a:xfrm>
            <a:custGeom>
              <a:avLst/>
              <a:gdLst/>
              <a:ahLst/>
              <a:cxnLst/>
              <a:rect l="l" t="t" r="r" b="b"/>
              <a:pathLst>
                <a:path w="1786872" h="336254" extrusionOk="0">
                  <a:moveTo>
                    <a:pt x="19399" y="0"/>
                  </a:moveTo>
                  <a:lnTo>
                    <a:pt x="1767473" y="0"/>
                  </a:lnTo>
                  <a:cubicBezTo>
                    <a:pt x="1772618" y="0"/>
                    <a:pt x="1777552" y="2044"/>
                    <a:pt x="1781190" y="5682"/>
                  </a:cubicBezTo>
                  <a:cubicBezTo>
                    <a:pt x="1784828" y="9320"/>
                    <a:pt x="1786872" y="14254"/>
                    <a:pt x="1786872" y="19399"/>
                  </a:cubicBezTo>
                  <a:lnTo>
                    <a:pt x="1786872" y="316855"/>
                  </a:lnTo>
                  <a:cubicBezTo>
                    <a:pt x="1786872" y="322000"/>
                    <a:pt x="1784828" y="326934"/>
                    <a:pt x="1781190" y="330572"/>
                  </a:cubicBezTo>
                  <a:cubicBezTo>
                    <a:pt x="1777552" y="334210"/>
                    <a:pt x="1772618" y="336254"/>
                    <a:pt x="1767473" y="336254"/>
                  </a:cubicBezTo>
                  <a:lnTo>
                    <a:pt x="19399" y="336254"/>
                  </a:lnTo>
                  <a:cubicBezTo>
                    <a:pt x="14254" y="336254"/>
                    <a:pt x="9320" y="334210"/>
                    <a:pt x="5682" y="330572"/>
                  </a:cubicBezTo>
                  <a:cubicBezTo>
                    <a:pt x="2044" y="326934"/>
                    <a:pt x="0" y="322000"/>
                    <a:pt x="0" y="316855"/>
                  </a:cubicBezTo>
                  <a:lnTo>
                    <a:pt x="0" y="19399"/>
                  </a:lnTo>
                  <a:cubicBezTo>
                    <a:pt x="0" y="14254"/>
                    <a:pt x="2044" y="9320"/>
                    <a:pt x="5682" y="5682"/>
                  </a:cubicBezTo>
                  <a:cubicBezTo>
                    <a:pt x="9320" y="2044"/>
                    <a:pt x="14254" y="0"/>
                    <a:pt x="19399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8"/>
            <p:cNvSpPr txBox="1"/>
            <p:nvPr/>
          </p:nvSpPr>
          <p:spPr>
            <a:xfrm>
              <a:off x="0" y="-47625"/>
              <a:ext cx="1786872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8"/>
          <p:cNvSpPr/>
          <p:nvPr/>
        </p:nvSpPr>
        <p:spPr>
          <a:xfrm>
            <a:off x="5976810" y="1263578"/>
            <a:ext cx="1229504" cy="819157"/>
          </a:xfrm>
          <a:custGeom>
            <a:avLst/>
            <a:gdLst/>
            <a:ahLst/>
            <a:cxnLst/>
            <a:rect l="l" t="t" r="r" b="b"/>
            <a:pathLst>
              <a:path w="1229504" h="819157" extrusionOk="0">
                <a:moveTo>
                  <a:pt x="0" y="0"/>
                </a:moveTo>
                <a:lnTo>
                  <a:pt x="1229504" y="0"/>
                </a:lnTo>
                <a:lnTo>
                  <a:pt x="1229504" y="819158"/>
                </a:lnTo>
                <a:lnTo>
                  <a:pt x="0" y="819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2" name="Google Shape;362;p8"/>
          <p:cNvGrpSpPr/>
          <p:nvPr/>
        </p:nvGrpSpPr>
        <p:grpSpPr>
          <a:xfrm>
            <a:off x="1270595" y="3185950"/>
            <a:ext cx="8714765" cy="4885364"/>
            <a:chOff x="0" y="-47625"/>
            <a:chExt cx="2295247" cy="1286680"/>
          </a:xfrm>
        </p:grpSpPr>
        <p:sp>
          <p:nvSpPr>
            <p:cNvPr id="363" name="Google Shape;363;p8"/>
            <p:cNvSpPr/>
            <p:nvPr/>
          </p:nvSpPr>
          <p:spPr>
            <a:xfrm>
              <a:off x="0" y="0"/>
              <a:ext cx="2295247" cy="1239055"/>
            </a:xfrm>
            <a:custGeom>
              <a:avLst/>
              <a:gdLst/>
              <a:ahLst/>
              <a:cxnLst/>
              <a:rect l="l" t="t" r="r" b="b"/>
              <a:pathLst>
                <a:path w="2295247" h="1239055" extrusionOk="0">
                  <a:moveTo>
                    <a:pt x="28428" y="0"/>
                  </a:moveTo>
                  <a:lnTo>
                    <a:pt x="2266819" y="0"/>
                  </a:lnTo>
                  <a:cubicBezTo>
                    <a:pt x="2274358" y="0"/>
                    <a:pt x="2281589" y="2995"/>
                    <a:pt x="2286920" y="8326"/>
                  </a:cubicBezTo>
                  <a:cubicBezTo>
                    <a:pt x="2292252" y="13658"/>
                    <a:pt x="2295247" y="20888"/>
                    <a:pt x="2295247" y="28428"/>
                  </a:cubicBezTo>
                  <a:lnTo>
                    <a:pt x="2295247" y="1210627"/>
                  </a:lnTo>
                  <a:cubicBezTo>
                    <a:pt x="2295247" y="1218167"/>
                    <a:pt x="2292252" y="1225398"/>
                    <a:pt x="2286920" y="1230729"/>
                  </a:cubicBezTo>
                  <a:cubicBezTo>
                    <a:pt x="2281589" y="1236060"/>
                    <a:pt x="2274358" y="1239055"/>
                    <a:pt x="2266819" y="1239055"/>
                  </a:cubicBezTo>
                  <a:lnTo>
                    <a:pt x="28428" y="1239055"/>
                  </a:lnTo>
                  <a:cubicBezTo>
                    <a:pt x="12728" y="1239055"/>
                    <a:pt x="0" y="1226328"/>
                    <a:pt x="0" y="1210627"/>
                  </a:cubicBezTo>
                  <a:lnTo>
                    <a:pt x="0" y="28428"/>
                  </a:lnTo>
                  <a:cubicBezTo>
                    <a:pt x="0" y="20888"/>
                    <a:pt x="2995" y="13658"/>
                    <a:pt x="8326" y="8326"/>
                  </a:cubicBezTo>
                  <a:cubicBezTo>
                    <a:pt x="13658" y="2995"/>
                    <a:pt x="20888" y="0"/>
                    <a:pt x="28428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rnd" cmpd="sng">
              <a:solidFill>
                <a:srgbClr val="0E6B2D">
                  <a:alpha val="2078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8"/>
            <p:cNvSpPr txBox="1"/>
            <p:nvPr/>
          </p:nvSpPr>
          <p:spPr>
            <a:xfrm>
              <a:off x="0" y="-47625"/>
              <a:ext cx="2295247" cy="1286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" name="Google Shape;365;p8"/>
          <p:cNvSpPr/>
          <p:nvPr/>
        </p:nvSpPr>
        <p:spPr>
          <a:xfrm>
            <a:off x="10786288" y="6257021"/>
            <a:ext cx="6701236" cy="3291982"/>
          </a:xfrm>
          <a:custGeom>
            <a:avLst/>
            <a:gdLst/>
            <a:ahLst/>
            <a:cxnLst/>
            <a:rect l="l" t="t" r="r" b="b"/>
            <a:pathLst>
              <a:path w="6701236" h="3291982" extrusionOk="0">
                <a:moveTo>
                  <a:pt x="0" y="0"/>
                </a:moveTo>
                <a:lnTo>
                  <a:pt x="6701235" y="0"/>
                </a:lnTo>
                <a:lnTo>
                  <a:pt x="6701235" y="3291982"/>
                </a:lnTo>
                <a:lnTo>
                  <a:pt x="0" y="3291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66" name="Google Shape;366;p8"/>
          <p:cNvGrpSpPr/>
          <p:nvPr/>
        </p:nvGrpSpPr>
        <p:grpSpPr>
          <a:xfrm>
            <a:off x="-1955" y="9382274"/>
            <a:ext cx="18296427" cy="904726"/>
            <a:chOff x="0" y="-47625"/>
            <a:chExt cx="5001389" cy="238282"/>
          </a:xfrm>
        </p:grpSpPr>
        <p:sp>
          <p:nvSpPr>
            <p:cNvPr id="367" name="Google Shape;367;p8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8" name="Google Shape;368;p8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8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70" name="Google Shape;370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8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373" name="Google Shape;373;p8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374" name="Google Shape;374;p8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5" name="Google Shape;375;p8"/>
          <p:cNvSpPr/>
          <p:nvPr/>
        </p:nvSpPr>
        <p:spPr>
          <a:xfrm>
            <a:off x="1752859" y="3058400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0" y="0"/>
                </a:moveTo>
                <a:lnTo>
                  <a:pt x="803585" y="0"/>
                </a:lnTo>
                <a:lnTo>
                  <a:pt x="803585" y="616752"/>
                </a:lnTo>
                <a:lnTo>
                  <a:pt x="0" y="6167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76" name="Google Shape;376;p8"/>
          <p:cNvSpPr txBox="1"/>
          <p:nvPr/>
        </p:nvSpPr>
        <p:spPr>
          <a:xfrm>
            <a:off x="3544847" y="1295015"/>
            <a:ext cx="11566314" cy="71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THẢO LUẬN</a:t>
            </a:r>
            <a:endParaRPr/>
          </a:p>
        </p:txBody>
      </p:sp>
      <p:sp>
        <p:nvSpPr>
          <p:cNvPr id="377" name="Google Shape;377;p8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/>
          </a:p>
        </p:txBody>
      </p:sp>
      <p:sp>
        <p:nvSpPr>
          <p:cNvPr id="378" name="Google Shape;378;p8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379" name="Google Shape;379;p8"/>
          <p:cNvSpPr txBox="1"/>
          <p:nvPr/>
        </p:nvSpPr>
        <p:spPr>
          <a:xfrm>
            <a:off x="1554613" y="4200588"/>
            <a:ext cx="8068459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Theo anh/chị, lỗi thể thức nào khiến một văn bản hành chính bị xem là không hợp lệ? Cho ví dụ minh họa.</a:t>
            </a:r>
            <a:endParaRPr sz="4500" b="1" i="0" u="none" strike="noStrike" cap="none">
              <a:solidFill>
                <a:srgbClr val="0E6B2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8"/>
          <p:cNvSpPr/>
          <p:nvPr/>
        </p:nvSpPr>
        <p:spPr>
          <a:xfrm rot="10800000">
            <a:off x="8588950" y="7762938"/>
            <a:ext cx="803585" cy="616752"/>
          </a:xfrm>
          <a:custGeom>
            <a:avLst/>
            <a:gdLst/>
            <a:ahLst/>
            <a:cxnLst/>
            <a:rect l="l" t="t" r="r" b="b"/>
            <a:pathLst>
              <a:path w="803585" h="616752" extrusionOk="0">
                <a:moveTo>
                  <a:pt x="803585" y="616752"/>
                </a:moveTo>
                <a:lnTo>
                  <a:pt x="0" y="616752"/>
                </a:lnTo>
                <a:lnTo>
                  <a:pt x="0" y="0"/>
                </a:lnTo>
                <a:lnTo>
                  <a:pt x="803585" y="0"/>
                </a:lnTo>
                <a:lnTo>
                  <a:pt x="803585" y="616752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381" name="Google Shape;381;p8"/>
          <p:cNvGrpSpPr/>
          <p:nvPr/>
        </p:nvGrpSpPr>
        <p:grpSpPr>
          <a:xfrm>
            <a:off x="11927582" y="2242038"/>
            <a:ext cx="4960970" cy="1433114"/>
            <a:chOff x="0" y="-47625"/>
            <a:chExt cx="1306593" cy="377446"/>
          </a:xfrm>
        </p:grpSpPr>
        <p:sp>
          <p:nvSpPr>
            <p:cNvPr id="382" name="Google Shape;382;p8"/>
            <p:cNvSpPr/>
            <p:nvPr/>
          </p:nvSpPr>
          <p:spPr>
            <a:xfrm>
              <a:off x="0" y="0"/>
              <a:ext cx="1306593" cy="329821"/>
            </a:xfrm>
            <a:custGeom>
              <a:avLst/>
              <a:gdLst/>
              <a:ahLst/>
              <a:cxnLst/>
              <a:rect l="l" t="t" r="r" b="b"/>
              <a:pathLst>
                <a:path w="1306593" h="329821" extrusionOk="0">
                  <a:moveTo>
                    <a:pt x="29651" y="0"/>
                  </a:moveTo>
                  <a:lnTo>
                    <a:pt x="1276942" y="0"/>
                  </a:lnTo>
                  <a:cubicBezTo>
                    <a:pt x="1284806" y="0"/>
                    <a:pt x="1292348" y="3124"/>
                    <a:pt x="1297908" y="8685"/>
                  </a:cubicBezTo>
                  <a:cubicBezTo>
                    <a:pt x="1303469" y="14245"/>
                    <a:pt x="1306593" y="21787"/>
                    <a:pt x="1306593" y="29651"/>
                  </a:cubicBezTo>
                  <a:lnTo>
                    <a:pt x="1306593" y="300170"/>
                  </a:lnTo>
                  <a:cubicBezTo>
                    <a:pt x="1306593" y="316546"/>
                    <a:pt x="1293318" y="329821"/>
                    <a:pt x="1276942" y="329821"/>
                  </a:cubicBezTo>
                  <a:lnTo>
                    <a:pt x="29651" y="329821"/>
                  </a:lnTo>
                  <a:cubicBezTo>
                    <a:pt x="13275" y="329821"/>
                    <a:pt x="0" y="316546"/>
                    <a:pt x="0" y="300170"/>
                  </a:cubicBezTo>
                  <a:lnTo>
                    <a:pt x="0" y="29651"/>
                  </a:lnTo>
                  <a:cubicBezTo>
                    <a:pt x="0" y="21787"/>
                    <a:pt x="3124" y="14245"/>
                    <a:pt x="8685" y="8685"/>
                  </a:cubicBezTo>
                  <a:cubicBezTo>
                    <a:pt x="14245" y="3124"/>
                    <a:pt x="21787" y="0"/>
                    <a:pt x="29651" y="0"/>
                  </a:cubicBezTo>
                  <a:close/>
                </a:path>
              </a:pathLst>
            </a:custGeom>
            <a:solidFill>
              <a:srgbClr val="7ED957"/>
            </a:solidFill>
            <a:ln w="38100" cap="sq" cmpd="sng">
              <a:solidFill>
                <a:srgbClr val="21B52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 txBox="1"/>
            <p:nvPr/>
          </p:nvSpPr>
          <p:spPr>
            <a:xfrm>
              <a:off x="0" y="-47625"/>
              <a:ext cx="1306593" cy="377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8"/>
          <p:cNvGrpSpPr/>
          <p:nvPr/>
        </p:nvGrpSpPr>
        <p:grpSpPr>
          <a:xfrm>
            <a:off x="12894929" y="3950306"/>
            <a:ext cx="3145157" cy="2481947"/>
            <a:chOff x="0" y="-47625"/>
            <a:chExt cx="828354" cy="653682"/>
          </a:xfrm>
        </p:grpSpPr>
        <p:sp>
          <p:nvSpPr>
            <p:cNvPr id="385" name="Google Shape;385;p8"/>
            <p:cNvSpPr/>
            <p:nvPr/>
          </p:nvSpPr>
          <p:spPr>
            <a:xfrm>
              <a:off x="0" y="0"/>
              <a:ext cx="828354" cy="606057"/>
            </a:xfrm>
            <a:custGeom>
              <a:avLst/>
              <a:gdLst/>
              <a:ahLst/>
              <a:cxnLst/>
              <a:rect l="l" t="t" r="r" b="b"/>
              <a:pathLst>
                <a:path w="828354" h="606057" extrusionOk="0">
                  <a:moveTo>
                    <a:pt x="0" y="0"/>
                  </a:moveTo>
                  <a:lnTo>
                    <a:pt x="828354" y="0"/>
                  </a:lnTo>
                  <a:lnTo>
                    <a:pt x="828354" y="606057"/>
                  </a:lnTo>
                  <a:lnTo>
                    <a:pt x="0" y="606057"/>
                  </a:ln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0E6B2D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86" name="Google Shape;386;p8"/>
            <p:cNvSpPr txBox="1"/>
            <p:nvPr/>
          </p:nvSpPr>
          <p:spPr>
            <a:xfrm>
              <a:off x="0" y="-47625"/>
              <a:ext cx="828354" cy="653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p8"/>
          <p:cNvSpPr txBox="1"/>
          <p:nvPr/>
        </p:nvSpPr>
        <p:spPr>
          <a:xfrm>
            <a:off x="12441115" y="2486900"/>
            <a:ext cx="4052786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Quét QR để tham gia thảo luận (nếu có)</a:t>
            </a:r>
            <a:endParaRPr/>
          </a:p>
        </p:txBody>
      </p:sp>
      <p:sp>
        <p:nvSpPr>
          <p:cNvPr id="388" name="Google Shape;388;p8"/>
          <p:cNvSpPr txBox="1"/>
          <p:nvPr/>
        </p:nvSpPr>
        <p:spPr>
          <a:xfrm>
            <a:off x="1537071" y="147781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8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394" name="Google Shape;394;p9"/>
          <p:cNvGrpSpPr/>
          <p:nvPr/>
        </p:nvGrpSpPr>
        <p:grpSpPr>
          <a:xfrm>
            <a:off x="0" y="9382274"/>
            <a:ext cx="18288004" cy="904726"/>
            <a:chOff x="0" y="-47625"/>
            <a:chExt cx="5001389" cy="238282"/>
          </a:xfrm>
        </p:grpSpPr>
        <p:sp>
          <p:nvSpPr>
            <p:cNvPr id="395" name="Google Shape;395;p9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96" name="Google Shape;396;p9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398" name="Google Shape;398;p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9"/>
          <p:cNvSpPr/>
          <p:nvPr/>
        </p:nvSpPr>
        <p:spPr>
          <a:xfrm>
            <a:off x="33119" y="-2978"/>
            <a:ext cx="1342325" cy="1341654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01" name="Google Shape;401;p9"/>
          <p:cNvSpPr/>
          <p:nvPr/>
        </p:nvSpPr>
        <p:spPr>
          <a:xfrm>
            <a:off x="4868717" y="1825115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2" name="Google Shape;402;p9"/>
          <p:cNvGrpSpPr/>
          <p:nvPr/>
        </p:nvGrpSpPr>
        <p:grpSpPr>
          <a:xfrm>
            <a:off x="4934741" y="879891"/>
            <a:ext cx="7921450" cy="1590471"/>
            <a:chOff x="0" y="-47625"/>
            <a:chExt cx="2330700" cy="383879"/>
          </a:xfrm>
        </p:grpSpPr>
        <p:sp>
          <p:nvSpPr>
            <p:cNvPr id="403" name="Google Shape;403;p9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5" name="Google Shape;405;p9"/>
          <p:cNvSpPr/>
          <p:nvPr/>
        </p:nvSpPr>
        <p:spPr>
          <a:xfrm flipH="1">
            <a:off x="5397471" y="1351673"/>
            <a:ext cx="630083" cy="809686"/>
          </a:xfrm>
          <a:custGeom>
            <a:avLst/>
            <a:gdLst/>
            <a:ahLst/>
            <a:cxnLst/>
            <a:rect l="l" t="t" r="r" b="b"/>
            <a:pathLst>
              <a:path w="630083" h="809686" extrusionOk="0">
                <a:moveTo>
                  <a:pt x="630082" y="0"/>
                </a:moveTo>
                <a:lnTo>
                  <a:pt x="0" y="0"/>
                </a:lnTo>
                <a:lnTo>
                  <a:pt x="0" y="809685"/>
                </a:lnTo>
                <a:lnTo>
                  <a:pt x="630082" y="809685"/>
                </a:lnTo>
                <a:lnTo>
                  <a:pt x="63008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06" name="Google Shape;406;p9"/>
          <p:cNvGrpSpPr/>
          <p:nvPr/>
        </p:nvGrpSpPr>
        <p:grpSpPr>
          <a:xfrm>
            <a:off x="1641115" y="2586329"/>
            <a:ext cx="14943406" cy="1693413"/>
            <a:chOff x="0" y="-47625"/>
            <a:chExt cx="3935712" cy="446002"/>
          </a:xfrm>
        </p:grpSpPr>
        <p:sp>
          <p:nvSpPr>
            <p:cNvPr id="407" name="Google Shape;407;p9"/>
            <p:cNvSpPr/>
            <p:nvPr/>
          </p:nvSpPr>
          <p:spPr>
            <a:xfrm>
              <a:off x="0" y="0"/>
              <a:ext cx="3935712" cy="398377"/>
            </a:xfrm>
            <a:custGeom>
              <a:avLst/>
              <a:gdLst/>
              <a:ahLst/>
              <a:cxnLst/>
              <a:rect l="l" t="t" r="r" b="b"/>
              <a:pathLst>
                <a:path w="3935712" h="398377" extrusionOk="0">
                  <a:moveTo>
                    <a:pt x="9844" y="0"/>
                  </a:moveTo>
                  <a:lnTo>
                    <a:pt x="3925868" y="0"/>
                  </a:lnTo>
                  <a:cubicBezTo>
                    <a:pt x="3931305" y="0"/>
                    <a:pt x="3935712" y="4407"/>
                    <a:pt x="3935712" y="9844"/>
                  </a:cubicBezTo>
                  <a:lnTo>
                    <a:pt x="3935712" y="388533"/>
                  </a:lnTo>
                  <a:cubicBezTo>
                    <a:pt x="3935712" y="393970"/>
                    <a:pt x="3931305" y="398377"/>
                    <a:pt x="3925868" y="398377"/>
                  </a:cubicBezTo>
                  <a:lnTo>
                    <a:pt x="9844" y="398377"/>
                  </a:lnTo>
                  <a:cubicBezTo>
                    <a:pt x="4407" y="398377"/>
                    <a:pt x="0" y="393970"/>
                    <a:pt x="0" y="388533"/>
                  </a:cubicBezTo>
                  <a:lnTo>
                    <a:pt x="0" y="9844"/>
                  </a:lnTo>
                  <a:cubicBezTo>
                    <a:pt x="0" y="4407"/>
                    <a:pt x="4407" y="0"/>
                    <a:pt x="9844" y="0"/>
                  </a:cubicBezTo>
                  <a:close/>
                </a:path>
              </a:pathLst>
            </a:custGeom>
            <a:gradFill>
              <a:gsLst>
                <a:gs pos="0">
                  <a:srgbClr val="7CCE6B">
                    <a:alpha val="21176"/>
                  </a:srgbClr>
                </a:gs>
                <a:gs pos="100000">
                  <a:srgbClr val="D8FFD0">
                    <a:alpha val="21176"/>
                  </a:srgbClr>
                </a:gs>
              </a:gsLst>
              <a:lin ang="5400000" scaled="0"/>
            </a:gradFill>
            <a:ln w="38100" cap="sq" cmpd="sng">
              <a:solidFill>
                <a:srgbClr val="4AAD3C">
                  <a:alpha val="20784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 txBox="1"/>
            <p:nvPr/>
          </p:nvSpPr>
          <p:spPr>
            <a:xfrm>
              <a:off x="0" y="-47625"/>
              <a:ext cx="3935712" cy="446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09" name="Google Shape;409;p9"/>
          <p:cNvCxnSpPr/>
          <p:nvPr/>
        </p:nvCxnSpPr>
        <p:spPr>
          <a:xfrm>
            <a:off x="6027554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0" name="Google Shape;410;p9"/>
          <p:cNvCxnSpPr/>
          <p:nvPr/>
        </p:nvCxnSpPr>
        <p:spPr>
          <a:xfrm>
            <a:off x="12517271" y="4681649"/>
            <a:ext cx="0" cy="4576651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1" name="Google Shape;411;p9"/>
          <p:cNvSpPr/>
          <p:nvPr/>
        </p:nvSpPr>
        <p:spPr>
          <a:xfrm>
            <a:off x="2228915" y="4539612"/>
            <a:ext cx="1201255" cy="1754724"/>
          </a:xfrm>
          <a:custGeom>
            <a:avLst/>
            <a:gdLst/>
            <a:ahLst/>
            <a:cxnLst/>
            <a:rect l="l" t="t" r="r" b="b"/>
            <a:pathLst>
              <a:path w="1201255" h="1754724" extrusionOk="0">
                <a:moveTo>
                  <a:pt x="0" y="0"/>
                </a:moveTo>
                <a:lnTo>
                  <a:pt x="1201255" y="0"/>
                </a:lnTo>
                <a:lnTo>
                  <a:pt x="1201255" y="1754724"/>
                </a:lnTo>
                <a:lnTo>
                  <a:pt x="0" y="1754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2" name="Google Shape;412;p9"/>
          <p:cNvSpPr/>
          <p:nvPr/>
        </p:nvSpPr>
        <p:spPr>
          <a:xfrm>
            <a:off x="8083172" y="4746423"/>
            <a:ext cx="1970671" cy="1399177"/>
          </a:xfrm>
          <a:custGeom>
            <a:avLst/>
            <a:gdLst/>
            <a:ahLst/>
            <a:cxnLst/>
            <a:rect l="l" t="t" r="r" b="b"/>
            <a:pathLst>
              <a:path w="1970671" h="1399177" extrusionOk="0">
                <a:moveTo>
                  <a:pt x="0" y="0"/>
                </a:moveTo>
                <a:lnTo>
                  <a:pt x="1970671" y="0"/>
                </a:lnTo>
                <a:lnTo>
                  <a:pt x="1970671" y="1399177"/>
                </a:lnTo>
                <a:lnTo>
                  <a:pt x="0" y="13991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3" name="Google Shape;413;p9"/>
          <p:cNvSpPr/>
          <p:nvPr/>
        </p:nvSpPr>
        <p:spPr>
          <a:xfrm>
            <a:off x="14670168" y="4693194"/>
            <a:ext cx="1505635" cy="1505635"/>
          </a:xfrm>
          <a:custGeom>
            <a:avLst/>
            <a:gdLst/>
            <a:ahLst/>
            <a:cxnLst/>
            <a:rect l="l" t="t" r="r" b="b"/>
            <a:pathLst>
              <a:path w="1505635" h="1505635" extrusionOk="0">
                <a:moveTo>
                  <a:pt x="0" y="0"/>
                </a:moveTo>
                <a:lnTo>
                  <a:pt x="1505635" y="0"/>
                </a:lnTo>
                <a:lnTo>
                  <a:pt x="1505635" y="1505635"/>
                </a:lnTo>
                <a:lnTo>
                  <a:pt x="0" y="1505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14" name="Google Shape;414;p9"/>
          <p:cNvSpPr txBox="1"/>
          <p:nvPr/>
        </p:nvSpPr>
        <p:spPr>
          <a:xfrm>
            <a:off x="8994595" y="9649968"/>
            <a:ext cx="298810" cy="94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10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6519167" y="1281986"/>
            <a:ext cx="6803620" cy="75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BÀI TẬP VẬN DỤNG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6806963" y="2879447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4AAD3C"/>
                </a:solidFill>
                <a:latin typeface="Roboto"/>
                <a:ea typeface="Roboto"/>
                <a:cs typeface="Roboto"/>
                <a:sym typeface="Roboto"/>
              </a:rPr>
              <a:t>NỘI DUNG BÀI TẬP</a:t>
            </a:r>
            <a:endParaRPr/>
          </a:p>
        </p:txBody>
      </p:sp>
      <p:sp>
        <p:nvSpPr>
          <p:cNvPr id="418" name="Google Shape;418;p9"/>
          <p:cNvSpPr txBox="1"/>
          <p:nvPr/>
        </p:nvSpPr>
        <p:spPr>
          <a:xfrm>
            <a:off x="4130628" y="3447248"/>
            <a:ext cx="1041417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Soạn thảo 01 Công văn mời họp của Khoa Kinh tế – Luật gửi đến các bộ môn trực thuộc.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298790" y="6503886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YÊU CẦU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1028700" y="7297834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Đúng và đủ 9 thành phần thể thức; văn phong hành chính chuẩn mực, súc tích.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6496307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HƯỚNG DẪN</a:t>
            </a:r>
            <a:endParaRPr/>
          </a:p>
        </p:txBody>
      </p:sp>
      <p:sp>
        <p:nvSpPr>
          <p:cNvPr id="422" name="Google Shape;422;p9"/>
          <p:cNvSpPr txBox="1"/>
          <p:nvPr/>
        </p:nvSpPr>
        <p:spPr>
          <a:xfrm>
            <a:off x="7226217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Trình bày theo mẫu Nghị định 30/2020; nộp file Word (.docx) trên E-learning.</a:t>
            </a:r>
            <a:endParaRPr/>
          </a:p>
        </p:txBody>
      </p:sp>
      <p:sp>
        <p:nvSpPr>
          <p:cNvPr id="423" name="Google Shape;423;p9"/>
          <p:cNvSpPr txBox="1"/>
          <p:nvPr/>
        </p:nvSpPr>
        <p:spPr>
          <a:xfrm>
            <a:off x="12871370" y="6445883"/>
            <a:ext cx="5061503" cy="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 b="1" i="0" u="none" strike="noStrike" cap="none">
                <a:solidFill>
                  <a:srgbClr val="0E6B2D"/>
                </a:solidFill>
                <a:latin typeface="Roboto"/>
                <a:ea typeface="Roboto"/>
                <a:cs typeface="Roboto"/>
                <a:sym typeface="Roboto"/>
              </a:rPr>
              <a:t>THỜI GIAN</a:t>
            </a:r>
            <a:endParaRPr/>
          </a:p>
        </p:txBody>
      </p:sp>
      <p:sp>
        <p:nvSpPr>
          <p:cNvPr id="424" name="Google Shape;424;p9"/>
          <p:cNvSpPr txBox="1"/>
          <p:nvPr/>
        </p:nvSpPr>
        <p:spPr>
          <a:xfrm>
            <a:off x="13601279" y="7239830"/>
            <a:ext cx="3601684" cy="99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Hoàn thành và nộp trong vòng 01 tuần.</a:t>
            </a:r>
            <a:endParaRPr/>
          </a:p>
        </p:txBody>
      </p:sp>
      <p:grpSp>
        <p:nvGrpSpPr>
          <p:cNvPr id="425" name="Google Shape;425;p9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26" name="Google Shape;426;p9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27" name="Google Shape;427;p9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8" name="Google Shape;428;p9"/>
          <p:cNvSpPr txBox="1"/>
          <p:nvPr/>
        </p:nvSpPr>
        <p:spPr>
          <a:xfrm>
            <a:off x="1343913" y="98970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9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34" name="Google Shape;434;p10"/>
          <p:cNvGrpSpPr/>
          <p:nvPr/>
        </p:nvGrpSpPr>
        <p:grpSpPr>
          <a:xfrm>
            <a:off x="0" y="9382274"/>
            <a:ext cx="18294472" cy="904726"/>
            <a:chOff x="0" y="-47625"/>
            <a:chExt cx="5001389" cy="238282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5001389" cy="190657"/>
            </a:xfrm>
            <a:custGeom>
              <a:avLst/>
              <a:gdLst/>
              <a:ahLst/>
              <a:cxnLst/>
              <a:rect l="l" t="t" r="r" b="b"/>
              <a:pathLst>
                <a:path w="5001389" h="190657" extrusionOk="0">
                  <a:moveTo>
                    <a:pt x="0" y="0"/>
                  </a:moveTo>
                  <a:lnTo>
                    <a:pt x="5001389" y="0"/>
                  </a:lnTo>
                  <a:lnTo>
                    <a:pt x="5001389" y="190657"/>
                  </a:lnTo>
                  <a:lnTo>
                    <a:pt x="0" y="190657"/>
                  </a:ln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47625"/>
              <a:ext cx="5001388" cy="238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>
            <a:off x="8895465" y="9662418"/>
            <a:ext cx="497071" cy="497071"/>
            <a:chOff x="0" y="0"/>
            <a:chExt cx="812800" cy="812800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4AAD3C"/>
                </a:gs>
                <a:gs pos="100000">
                  <a:srgbClr val="4AAD3C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0" name="Google Shape;440;p10"/>
          <p:cNvSpPr/>
          <p:nvPr/>
        </p:nvSpPr>
        <p:spPr>
          <a:xfrm>
            <a:off x="5070651" y="2552993"/>
            <a:ext cx="8849375" cy="1039802"/>
          </a:xfrm>
          <a:custGeom>
            <a:avLst/>
            <a:gdLst/>
            <a:ahLst/>
            <a:cxnLst/>
            <a:rect l="l" t="t" r="r" b="b"/>
            <a:pathLst>
              <a:path w="8849375" h="1039802" extrusionOk="0">
                <a:moveTo>
                  <a:pt x="0" y="0"/>
                </a:moveTo>
                <a:lnTo>
                  <a:pt x="8849375" y="0"/>
                </a:lnTo>
                <a:lnTo>
                  <a:pt x="8849375" y="1039802"/>
                </a:lnTo>
                <a:lnTo>
                  <a:pt x="0" y="1039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2000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1" name="Google Shape;441;p10"/>
          <p:cNvGrpSpPr/>
          <p:nvPr/>
        </p:nvGrpSpPr>
        <p:grpSpPr>
          <a:xfrm>
            <a:off x="4921247" y="1302807"/>
            <a:ext cx="8849379" cy="1457539"/>
            <a:chOff x="0" y="-47625"/>
            <a:chExt cx="2330700" cy="383879"/>
          </a:xfrm>
        </p:grpSpPr>
        <p:sp>
          <p:nvSpPr>
            <p:cNvPr id="442" name="Google Shape;442;p10"/>
            <p:cNvSpPr/>
            <p:nvPr/>
          </p:nvSpPr>
          <p:spPr>
            <a:xfrm>
              <a:off x="0" y="0"/>
              <a:ext cx="2330700" cy="336254"/>
            </a:xfrm>
            <a:custGeom>
              <a:avLst/>
              <a:gdLst/>
              <a:ahLst/>
              <a:cxnLst/>
              <a:rect l="l" t="t" r="r" b="b"/>
              <a:pathLst>
                <a:path w="2330700" h="336254" extrusionOk="0">
                  <a:moveTo>
                    <a:pt x="14873" y="0"/>
                  </a:moveTo>
                  <a:lnTo>
                    <a:pt x="2315827" y="0"/>
                  </a:lnTo>
                  <a:cubicBezTo>
                    <a:pt x="2324041" y="0"/>
                    <a:pt x="2330700" y="6659"/>
                    <a:pt x="2330700" y="14873"/>
                  </a:cubicBezTo>
                  <a:lnTo>
                    <a:pt x="2330700" y="321381"/>
                  </a:lnTo>
                  <a:cubicBezTo>
                    <a:pt x="2330700" y="325325"/>
                    <a:pt x="2329133" y="329108"/>
                    <a:pt x="2326343" y="331897"/>
                  </a:cubicBezTo>
                  <a:cubicBezTo>
                    <a:pt x="2323554" y="334687"/>
                    <a:pt x="2319772" y="336254"/>
                    <a:pt x="2315827" y="336254"/>
                  </a:cubicBezTo>
                  <a:lnTo>
                    <a:pt x="14873" y="336254"/>
                  </a:lnTo>
                  <a:cubicBezTo>
                    <a:pt x="6659" y="336254"/>
                    <a:pt x="0" y="329595"/>
                    <a:pt x="0" y="321381"/>
                  </a:cubicBezTo>
                  <a:lnTo>
                    <a:pt x="0" y="14873"/>
                  </a:lnTo>
                  <a:cubicBezTo>
                    <a:pt x="0" y="6659"/>
                    <a:pt x="6659" y="0"/>
                    <a:pt x="14873" y="0"/>
                  </a:cubicBezTo>
                  <a:close/>
                </a:path>
              </a:pathLst>
            </a:custGeom>
            <a:solidFill>
              <a:srgbClr val="0E6B2D"/>
            </a:solidFill>
            <a:ln w="38100" cap="sq" cmpd="sng">
              <a:solidFill>
                <a:srgbClr val="FCEE7B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0" y="-47625"/>
              <a:ext cx="2330699" cy="3838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4" name="Google Shape;444;p10"/>
          <p:cNvSpPr/>
          <p:nvPr/>
        </p:nvSpPr>
        <p:spPr>
          <a:xfrm>
            <a:off x="5392637" y="1690985"/>
            <a:ext cx="796280" cy="862008"/>
          </a:xfrm>
          <a:custGeom>
            <a:avLst/>
            <a:gdLst/>
            <a:ahLst/>
            <a:cxnLst/>
            <a:rect l="l" t="t" r="r" b="b"/>
            <a:pathLst>
              <a:path w="796280" h="862008" extrusionOk="0">
                <a:moveTo>
                  <a:pt x="0" y="0"/>
                </a:moveTo>
                <a:lnTo>
                  <a:pt x="796280" y="0"/>
                </a:lnTo>
                <a:lnTo>
                  <a:pt x="796280" y="862008"/>
                </a:lnTo>
                <a:lnTo>
                  <a:pt x="0" y="862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5" name="Google Shape;445;p10"/>
          <p:cNvSpPr/>
          <p:nvPr/>
        </p:nvSpPr>
        <p:spPr>
          <a:xfrm>
            <a:off x="1230634" y="4057751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6" name="Google Shape;446;p10"/>
          <p:cNvSpPr/>
          <p:nvPr/>
        </p:nvSpPr>
        <p:spPr>
          <a:xfrm>
            <a:off x="1230634" y="5349216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10"/>
          <p:cNvSpPr/>
          <p:nvPr/>
        </p:nvSpPr>
        <p:spPr>
          <a:xfrm>
            <a:off x="1230634" y="6748489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9"/>
                </a:lnTo>
                <a:lnTo>
                  <a:pt x="0" y="638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10"/>
          <p:cNvSpPr/>
          <p:nvPr/>
        </p:nvSpPr>
        <p:spPr>
          <a:xfrm>
            <a:off x="1230634" y="8147762"/>
            <a:ext cx="638459" cy="638459"/>
          </a:xfrm>
          <a:custGeom>
            <a:avLst/>
            <a:gdLst/>
            <a:ahLst/>
            <a:cxnLst/>
            <a:rect l="l" t="t" r="r" b="b"/>
            <a:pathLst>
              <a:path w="638459" h="638459" extrusionOk="0">
                <a:moveTo>
                  <a:pt x="0" y="0"/>
                </a:moveTo>
                <a:lnTo>
                  <a:pt x="638459" y="0"/>
                </a:lnTo>
                <a:lnTo>
                  <a:pt x="638459" y="638458"/>
                </a:lnTo>
                <a:lnTo>
                  <a:pt x="0" y="638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9" name="Google Shape;449;p10"/>
          <p:cNvGrpSpPr/>
          <p:nvPr/>
        </p:nvGrpSpPr>
        <p:grpSpPr>
          <a:xfrm>
            <a:off x="17411864" y="9492448"/>
            <a:ext cx="882604" cy="780455"/>
            <a:chOff x="0" y="-47625"/>
            <a:chExt cx="743246" cy="657225"/>
          </a:xfrm>
        </p:grpSpPr>
        <p:sp>
          <p:nvSpPr>
            <p:cNvPr id="450" name="Google Shape;450;p10"/>
            <p:cNvSpPr/>
            <p:nvPr/>
          </p:nvSpPr>
          <p:spPr>
            <a:xfrm>
              <a:off x="0" y="0"/>
              <a:ext cx="743246" cy="609600"/>
            </a:xfrm>
            <a:custGeom>
              <a:avLst/>
              <a:gdLst/>
              <a:ahLst/>
              <a:cxnLst/>
              <a:rect l="l" t="t" r="r" b="b"/>
              <a:pathLst>
                <a:path w="743246" h="609600" extrusionOk="0">
                  <a:moveTo>
                    <a:pt x="203200" y="0"/>
                  </a:moveTo>
                  <a:lnTo>
                    <a:pt x="743246" y="0"/>
                  </a:lnTo>
                  <a:lnTo>
                    <a:pt x="54004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D400"/>
            </a:solidFill>
            <a:ln>
              <a:noFill/>
            </a:ln>
          </p:spPr>
        </p:sp>
        <p:sp>
          <p:nvSpPr>
            <p:cNvPr id="451" name="Google Shape;451;p10"/>
            <p:cNvSpPr txBox="1"/>
            <p:nvPr/>
          </p:nvSpPr>
          <p:spPr>
            <a:xfrm>
              <a:off x="101600" y="-47625"/>
              <a:ext cx="540046" cy="657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2" name="Google Shape;452;p10"/>
          <p:cNvSpPr/>
          <p:nvPr/>
        </p:nvSpPr>
        <p:spPr>
          <a:xfrm>
            <a:off x="8360435" y="3878847"/>
            <a:ext cx="8793160" cy="5528699"/>
          </a:xfrm>
          <a:custGeom>
            <a:avLst/>
            <a:gdLst/>
            <a:ahLst/>
            <a:cxnLst/>
            <a:rect l="l" t="t" r="r" b="b"/>
            <a:pathLst>
              <a:path w="8793160" h="5528699" extrusionOk="0">
                <a:moveTo>
                  <a:pt x="0" y="0"/>
                </a:moveTo>
                <a:lnTo>
                  <a:pt x="8793160" y="0"/>
                </a:lnTo>
                <a:lnTo>
                  <a:pt x="8793160" y="5528700"/>
                </a:lnTo>
                <a:lnTo>
                  <a:pt x="0" y="5528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53" name="Google Shape;453;p10"/>
          <p:cNvSpPr txBox="1"/>
          <p:nvPr/>
        </p:nvSpPr>
        <p:spPr>
          <a:xfrm>
            <a:off x="8994595" y="9649968"/>
            <a:ext cx="29881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612388" y="9702991"/>
            <a:ext cx="4976455" cy="35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6599702" y="1702889"/>
            <a:ext cx="680362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TỔNG KẾT NỘI DUNG</a:t>
            </a:r>
            <a:endParaRPr/>
          </a:p>
        </p:txBody>
      </p:sp>
      <p:sp>
        <p:nvSpPr>
          <p:cNvPr id="456" name="Google Shape;456;p10"/>
          <p:cNvSpPr txBox="1"/>
          <p:nvPr/>
        </p:nvSpPr>
        <p:spPr>
          <a:xfrm>
            <a:off x="2133155" y="4090047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Văn bản: khái niệm, vai trò và cách phân loại</a:t>
            </a:r>
            <a:endParaRPr/>
          </a:p>
        </p:txBody>
      </p:sp>
      <p:sp>
        <p:nvSpPr>
          <p:cNvPr id="457" name="Google Shape;457;p10"/>
          <p:cNvSpPr txBox="1"/>
          <p:nvPr/>
        </p:nvSpPr>
        <p:spPr>
          <a:xfrm>
            <a:off x="2133155" y="5454275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Chín thành phần thể thức bắt buộc theo NĐ 30/2020</a:t>
            </a:r>
            <a:endParaRPr/>
          </a:p>
        </p:txBody>
      </p:sp>
      <p:sp>
        <p:nvSpPr>
          <p:cNvPr id="458" name="Google Shape;458;p10"/>
          <p:cNvSpPr txBox="1"/>
          <p:nvPr/>
        </p:nvSpPr>
        <p:spPr>
          <a:xfrm>
            <a:off x="2133155" y="6762918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Các văn bản hành chính thông dụng và bố cục</a:t>
            </a:r>
            <a:endParaRPr/>
          </a:p>
        </p:txBody>
      </p:sp>
      <p:sp>
        <p:nvSpPr>
          <p:cNvPr id="459" name="Google Shape;459;p10"/>
          <p:cNvSpPr txBox="1"/>
          <p:nvPr/>
        </p:nvSpPr>
        <p:spPr>
          <a:xfrm>
            <a:off x="2133155" y="8162191"/>
            <a:ext cx="506150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Các văn bản thương mại cơ bản trong kinh doanh</a:t>
            </a:r>
            <a:endParaRPr/>
          </a:p>
        </p:txBody>
      </p:sp>
      <p:sp>
        <p:nvSpPr>
          <p:cNvPr id="460" name="Google Shape;460;p10"/>
          <p:cNvSpPr txBox="1"/>
          <p:nvPr/>
        </p:nvSpPr>
        <p:spPr>
          <a:xfrm>
            <a:off x="11805290" y="6071697"/>
            <a:ext cx="22665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NỘI DUNG BÀI HỌC</a:t>
            </a:r>
            <a:endParaRPr/>
          </a:p>
        </p:txBody>
      </p:sp>
      <p:sp>
        <p:nvSpPr>
          <p:cNvPr id="461" name="Google Shape;461;p10"/>
          <p:cNvSpPr txBox="1"/>
          <p:nvPr/>
        </p:nvSpPr>
        <p:spPr>
          <a:xfrm>
            <a:off x="8868230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Khái niệm</a:t>
            </a:r>
            <a:endParaRPr/>
          </a:p>
        </p:txBody>
      </p:sp>
      <p:sp>
        <p:nvSpPr>
          <p:cNvPr id="462" name="Google Shape;462;p10"/>
          <p:cNvSpPr txBox="1"/>
          <p:nvPr/>
        </p:nvSpPr>
        <p:spPr>
          <a:xfrm>
            <a:off x="14558674" y="4318647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Phân loại</a:t>
            </a:r>
            <a:endParaRPr/>
          </a:p>
        </p:txBody>
      </p:sp>
      <p:sp>
        <p:nvSpPr>
          <p:cNvPr id="463" name="Google Shape;463;p10"/>
          <p:cNvSpPr txBox="1"/>
          <p:nvPr/>
        </p:nvSpPr>
        <p:spPr>
          <a:xfrm>
            <a:off x="8868230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Thể thức</a:t>
            </a:r>
            <a:endParaRPr/>
          </a:p>
        </p:txBody>
      </p:sp>
      <p:sp>
        <p:nvSpPr>
          <p:cNvPr id="464" name="Google Shape;464;p10"/>
          <p:cNvSpPr txBox="1"/>
          <p:nvPr/>
        </p:nvSpPr>
        <p:spPr>
          <a:xfrm>
            <a:off x="14558674" y="8071562"/>
            <a:ext cx="226656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Soạn thảo</a:t>
            </a:r>
            <a:endParaRPr/>
          </a:p>
        </p:txBody>
      </p:sp>
      <p:sp>
        <p:nvSpPr>
          <p:cNvPr id="465" name="Google Shape;465;p10"/>
          <p:cNvSpPr txBox="1"/>
          <p:nvPr/>
        </p:nvSpPr>
        <p:spPr>
          <a:xfrm>
            <a:off x="1676400" y="161185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183B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KHOA</a:t>
            </a:r>
            <a:r>
              <a:rPr lang="en-US" sz="27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700" b="1" i="0" u="none" strike="noStrike" cap="none">
                <a:solidFill>
                  <a:srgbClr val="183B05"/>
                </a:solidFill>
                <a:latin typeface="Roboto"/>
                <a:ea typeface="Roboto"/>
                <a:cs typeface="Roboto"/>
                <a:sym typeface="Roboto"/>
              </a:rPr>
              <a:t>KINH TẾ - LUẬT</a:t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2" name="Google Shape;472;p11"/>
          <p:cNvSpPr/>
          <p:nvPr/>
        </p:nvSpPr>
        <p:spPr>
          <a:xfrm>
            <a:off x="0" y="-1896075"/>
            <a:ext cx="18288000" cy="12183075"/>
          </a:xfrm>
          <a:custGeom>
            <a:avLst/>
            <a:gdLst/>
            <a:ahLst/>
            <a:cxnLst/>
            <a:rect l="l" t="t" r="r" b="b"/>
            <a:pathLst>
              <a:path w="18288000" h="12183075" extrusionOk="0">
                <a:moveTo>
                  <a:pt x="0" y="0"/>
                </a:moveTo>
                <a:lnTo>
                  <a:pt x="18288000" y="0"/>
                </a:lnTo>
                <a:lnTo>
                  <a:pt x="18288000" y="12183075"/>
                </a:lnTo>
                <a:lnTo>
                  <a:pt x="0" y="12183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7999"/>
            </a:blip>
            <a:stretch>
              <a:fillRect/>
            </a:stretch>
          </a:blipFill>
          <a:ln>
            <a:noFill/>
          </a:ln>
        </p:spPr>
      </p:sp>
      <p:grpSp>
        <p:nvGrpSpPr>
          <p:cNvPr id="473" name="Google Shape;473;p11"/>
          <p:cNvGrpSpPr/>
          <p:nvPr/>
        </p:nvGrpSpPr>
        <p:grpSpPr>
          <a:xfrm rot="5400000">
            <a:off x="14602455" y="-1388381"/>
            <a:ext cx="4599571" cy="4599571"/>
            <a:chOff x="0" y="0"/>
            <a:chExt cx="812800" cy="812800"/>
          </a:xfrm>
        </p:grpSpPr>
        <p:sp>
          <p:nvSpPr>
            <p:cNvPr id="474" name="Google Shape;474;p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90DF44">
                    <a:alpha val="40000"/>
                  </a:srgbClr>
                </a:gs>
                <a:gs pos="100000">
                  <a:srgbClr val="90DF44">
                    <a:alpha val="3529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6" name="Google Shape;476;p11"/>
          <p:cNvSpPr/>
          <p:nvPr/>
        </p:nvSpPr>
        <p:spPr>
          <a:xfrm rot="10800000" flipH="1">
            <a:off x="0" y="-196829"/>
            <a:ext cx="1864602" cy="2216467"/>
          </a:xfrm>
          <a:custGeom>
            <a:avLst/>
            <a:gdLst/>
            <a:ahLst/>
            <a:cxnLst/>
            <a:rect l="l" t="t" r="r" b="b"/>
            <a:pathLst>
              <a:path w="1864602" h="2216467" extrusionOk="0">
                <a:moveTo>
                  <a:pt x="0" y="2216467"/>
                </a:moveTo>
                <a:lnTo>
                  <a:pt x="1864602" y="2216467"/>
                </a:lnTo>
                <a:lnTo>
                  <a:pt x="1864602" y="0"/>
                </a:lnTo>
                <a:lnTo>
                  <a:pt x="0" y="0"/>
                </a:lnTo>
                <a:lnTo>
                  <a:pt x="0" y="221646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7" name="Google Shape;477;p11"/>
          <p:cNvSpPr/>
          <p:nvPr/>
        </p:nvSpPr>
        <p:spPr>
          <a:xfrm>
            <a:off x="17259300" y="5459045"/>
            <a:ext cx="1584452" cy="1563986"/>
          </a:xfrm>
          <a:custGeom>
            <a:avLst/>
            <a:gdLst/>
            <a:ahLst/>
            <a:cxnLst/>
            <a:rect l="l" t="t" r="r" b="b"/>
            <a:pathLst>
              <a:path w="1584452" h="1563986" extrusionOk="0">
                <a:moveTo>
                  <a:pt x="0" y="0"/>
                </a:moveTo>
                <a:lnTo>
                  <a:pt x="1584452" y="0"/>
                </a:lnTo>
                <a:lnTo>
                  <a:pt x="1584452" y="1563987"/>
                </a:lnTo>
                <a:lnTo>
                  <a:pt x="0" y="15639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8" name="Google Shape;478;p11"/>
          <p:cNvSpPr/>
          <p:nvPr/>
        </p:nvSpPr>
        <p:spPr>
          <a:xfrm>
            <a:off x="1028700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79" name="Google Shape;479;p11"/>
          <p:cNvSpPr/>
          <p:nvPr/>
        </p:nvSpPr>
        <p:spPr>
          <a:xfrm>
            <a:off x="7095005" y="8367246"/>
            <a:ext cx="891054" cy="891054"/>
          </a:xfrm>
          <a:custGeom>
            <a:avLst/>
            <a:gdLst/>
            <a:ahLst/>
            <a:cxnLst/>
            <a:rect l="l" t="t" r="r" b="b"/>
            <a:pathLst>
              <a:path w="891054" h="891054" extrusionOk="0">
                <a:moveTo>
                  <a:pt x="0" y="0"/>
                </a:moveTo>
                <a:lnTo>
                  <a:pt x="891054" y="0"/>
                </a:lnTo>
                <a:lnTo>
                  <a:pt x="891054" y="891054"/>
                </a:lnTo>
                <a:lnTo>
                  <a:pt x="0" y="891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80" name="Google Shape;480;p11"/>
          <p:cNvSpPr txBox="1"/>
          <p:nvPr/>
        </p:nvSpPr>
        <p:spPr>
          <a:xfrm>
            <a:off x="1491585" y="109647"/>
            <a:ext cx="10758645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SƯ PHẠM KỸ THUẬT VĨNH LONG</a:t>
            </a:r>
            <a:endParaRPr sz="2700" b="1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9898006" y="151993"/>
            <a:ext cx="8244099" cy="45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</p:txBody>
      </p:sp>
      <p:sp>
        <p:nvSpPr>
          <p:cNvPr id="482" name="Google Shape;482;p11"/>
          <p:cNvSpPr txBox="1"/>
          <p:nvPr/>
        </p:nvSpPr>
        <p:spPr>
          <a:xfrm>
            <a:off x="2426917" y="3217794"/>
            <a:ext cx="13434166" cy="1203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CẢM ƠN ANH/CHỊ ĐÃ THEO DÕI</a:t>
            </a:r>
            <a:endParaRPr/>
          </a:p>
        </p:txBody>
      </p:sp>
      <p:sp>
        <p:nvSpPr>
          <p:cNvPr id="483" name="Google Shape;483;p11"/>
          <p:cNvSpPr txBox="1"/>
          <p:nvPr/>
        </p:nvSpPr>
        <p:spPr>
          <a:xfrm>
            <a:off x="3318670" y="4484320"/>
            <a:ext cx="11351851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i="0" u="none" strike="noStrike" cap="none">
                <a:solidFill>
                  <a:srgbClr val="FFD400"/>
                </a:solidFill>
                <a:latin typeface="Roboto"/>
                <a:ea typeface="Roboto"/>
                <a:cs typeface="Roboto"/>
                <a:sym typeface="Roboto"/>
              </a:rPr>
              <a:t>HỌC LIỆU SỐ - ĐÀO TẠO TỪ XA</a:t>
            </a:r>
            <a:endParaRPr/>
          </a:p>
        </p:txBody>
      </p:sp>
      <p:sp>
        <p:nvSpPr>
          <p:cNvPr id="484" name="Google Shape;484;p11"/>
          <p:cNvSpPr txBox="1"/>
          <p:nvPr/>
        </p:nvSpPr>
        <p:spPr>
          <a:xfrm>
            <a:off x="3468075" y="5432357"/>
            <a:ext cx="11351851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Khoa Kinh tế - Luật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Trường Đại học SPKT Vĩnh Long</a:t>
            </a:r>
            <a:endParaRPr/>
          </a:p>
        </p:txBody>
      </p:sp>
      <p:sp>
        <p:nvSpPr>
          <p:cNvPr id="485" name="Google Shape;485;p11"/>
          <p:cNvSpPr txBox="1"/>
          <p:nvPr/>
        </p:nvSpPr>
        <p:spPr>
          <a:xfrm>
            <a:off x="2162938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fel@vlute.edu.vn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8386332" y="8507973"/>
            <a:ext cx="423691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https://vlute.edu.vn</a:t>
            </a:r>
            <a:endParaRPr sz="30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29389" y="-25432"/>
            <a:ext cx="1451168" cy="1276381"/>
          </a:xfrm>
          <a:custGeom>
            <a:avLst/>
            <a:gdLst/>
            <a:ahLst/>
            <a:cxnLst/>
            <a:rect l="l" t="t" r="r" b="b"/>
            <a:pathLst>
              <a:path w="1641115" h="1646495" extrusionOk="0">
                <a:moveTo>
                  <a:pt x="0" y="0"/>
                </a:moveTo>
                <a:lnTo>
                  <a:pt x="1641115" y="0"/>
                </a:lnTo>
                <a:lnTo>
                  <a:pt x="1641115" y="1646495"/>
                </a:lnTo>
                <a:lnTo>
                  <a:pt x="0" y="16464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550</Words>
  <Application>Microsoft Office PowerPoint</Application>
  <PresentationFormat>Custom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NGA</dc:creator>
  <cp:lastModifiedBy>Macbook</cp:lastModifiedBy>
  <cp:revision>2</cp:revision>
  <dcterms:created xsi:type="dcterms:W3CDTF">2006-08-16T00:00:00Z</dcterms:created>
  <dcterms:modified xsi:type="dcterms:W3CDTF">2026-06-04T10:53:06Z</dcterms:modified>
</cp:coreProperties>
</file>