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x="18288000" cy="10287000"/>
  <p:notesSz cx="6858000" cy="9144000"/>
  <p:embeddedFontLst>
    <p:embeddedFont>
      <p:font typeface="Roboto" charset="0"/>
      <p:bold r:id="rId14"/>
      <p:boldItalic r:id="rId15"/>
    </p:embeddedFon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3vgPPzlDR5id04RzYuzVcscII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E0F7F910-62E2-467A-A3EA-7CB14D2E1E0A}">
  <a:tblStyle styleId="{E0F7F910-62E2-467A-A3EA-7CB14D2E1E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-537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customschemas.google.com/relationships/presentationmetadata" Target="meta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85298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2.png"/><Relationship Id="rId11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5400000">
            <a:off x="17110809" y="8144837"/>
            <a:ext cx="586784" cy="1553028"/>
            <a:chOff x="0" y="-47625"/>
            <a:chExt cx="103692" cy="27443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03692" cy="226814"/>
            </a:xfrm>
            <a:custGeom>
              <a:avLst/>
              <a:gdLst/>
              <a:ahLst/>
              <a:cxnLst/>
              <a:rect l="l" t="t" r="r" b="b"/>
              <a:pathLst>
                <a:path w="103692" h="226814" extrusionOk="0">
                  <a:moveTo>
                    <a:pt x="51846" y="0"/>
                  </a:moveTo>
                  <a:lnTo>
                    <a:pt x="51846" y="0"/>
                  </a:lnTo>
                  <a:cubicBezTo>
                    <a:pt x="80480" y="0"/>
                    <a:pt x="103692" y="23212"/>
                    <a:pt x="103692" y="51846"/>
                  </a:cubicBezTo>
                  <a:lnTo>
                    <a:pt x="103692" y="174968"/>
                  </a:lnTo>
                  <a:cubicBezTo>
                    <a:pt x="103692" y="188718"/>
                    <a:pt x="98229" y="201906"/>
                    <a:pt x="88507" y="211629"/>
                  </a:cubicBezTo>
                  <a:cubicBezTo>
                    <a:pt x="78784" y="221352"/>
                    <a:pt x="65596" y="226814"/>
                    <a:pt x="51846" y="226814"/>
                  </a:cubicBezTo>
                  <a:lnTo>
                    <a:pt x="51846" y="226814"/>
                  </a:lnTo>
                  <a:cubicBezTo>
                    <a:pt x="38096" y="226814"/>
                    <a:pt x="24908" y="221352"/>
                    <a:pt x="15185" y="211629"/>
                  </a:cubicBezTo>
                  <a:cubicBezTo>
                    <a:pt x="5462" y="201906"/>
                    <a:pt x="0" y="188718"/>
                    <a:pt x="0" y="174968"/>
                  </a:cubicBezTo>
                  <a:lnTo>
                    <a:pt x="0" y="51846"/>
                  </a:lnTo>
                  <a:cubicBezTo>
                    <a:pt x="0" y="38096"/>
                    <a:pt x="5462" y="24908"/>
                    <a:pt x="15185" y="15185"/>
                  </a:cubicBezTo>
                  <a:cubicBezTo>
                    <a:pt x="24908" y="5462"/>
                    <a:pt x="38096" y="0"/>
                    <a:pt x="51846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03692" cy="274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7093636" y="8765286"/>
            <a:ext cx="636457" cy="312129"/>
          </a:xfrm>
          <a:custGeom>
            <a:avLst/>
            <a:gdLst/>
            <a:ahLst/>
            <a:cxnLst/>
            <a:rect l="l" t="t" r="r" b="b"/>
            <a:pathLst>
              <a:path w="636457" h="312129" extrusionOk="0">
                <a:moveTo>
                  <a:pt x="0" y="0"/>
                </a:moveTo>
                <a:lnTo>
                  <a:pt x="636457" y="0"/>
                </a:lnTo>
                <a:lnTo>
                  <a:pt x="636457" y="312129"/>
                </a:lnTo>
                <a:lnTo>
                  <a:pt x="0" y="31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5486400" y="5143500"/>
            <a:ext cx="7315200" cy="185928"/>
          </a:xfrm>
          <a:custGeom>
            <a:avLst/>
            <a:gdLst/>
            <a:ahLst/>
            <a:cxnLst/>
            <a:rect l="l" t="t" r="r" b="b"/>
            <a:pathLst>
              <a:path w="7315200" h="185928" extrusionOk="0">
                <a:moveTo>
                  <a:pt x="0" y="0"/>
                </a:moveTo>
                <a:lnTo>
                  <a:pt x="7315200" y="0"/>
                </a:lnTo>
                <a:lnTo>
                  <a:pt x="7315200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167947" y="7023032"/>
            <a:ext cx="584911" cy="466467"/>
          </a:xfrm>
          <a:custGeom>
            <a:avLst/>
            <a:gdLst/>
            <a:ahLst/>
            <a:cxnLst/>
            <a:rect l="l" t="t" r="r" b="b"/>
            <a:pathLst>
              <a:path w="584911" h="466467" extrusionOk="0">
                <a:moveTo>
                  <a:pt x="0" y="0"/>
                </a:moveTo>
                <a:lnTo>
                  <a:pt x="584912" y="0"/>
                </a:lnTo>
                <a:lnTo>
                  <a:pt x="584912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167947" y="7951728"/>
            <a:ext cx="561989" cy="425004"/>
          </a:xfrm>
          <a:custGeom>
            <a:avLst/>
            <a:gdLst/>
            <a:ahLst/>
            <a:cxnLst/>
            <a:rect l="l" t="t" r="r" b="b"/>
            <a:pathLst>
              <a:path w="561989" h="425004" extrusionOk="0">
                <a:moveTo>
                  <a:pt x="0" y="0"/>
                </a:moveTo>
                <a:lnTo>
                  <a:pt x="561990" y="0"/>
                </a:lnTo>
                <a:lnTo>
                  <a:pt x="561990" y="425005"/>
                </a:lnTo>
                <a:lnTo>
                  <a:pt x="0" y="425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253735" y="8706108"/>
            <a:ext cx="356164" cy="552192"/>
          </a:xfrm>
          <a:custGeom>
            <a:avLst/>
            <a:gdLst/>
            <a:ahLst/>
            <a:cxnLst/>
            <a:rect l="l" t="t" r="r" b="b"/>
            <a:pathLst>
              <a:path w="356164" h="552192" extrusionOk="0">
                <a:moveTo>
                  <a:pt x="0" y="0"/>
                </a:moveTo>
                <a:lnTo>
                  <a:pt x="356164" y="0"/>
                </a:lnTo>
                <a:lnTo>
                  <a:pt x="356164" y="552192"/>
                </a:lnTo>
                <a:lnTo>
                  <a:pt x="0" y="552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1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3868399" y="6183888"/>
            <a:ext cx="3691585" cy="3379212"/>
          </a:xfrm>
          <a:custGeom>
            <a:avLst/>
            <a:gdLst/>
            <a:ahLst/>
            <a:cxnLst/>
            <a:rect l="l" t="t" r="r" b="b"/>
            <a:pathLst>
              <a:path w="5247142" h="5122522" extrusionOk="0">
                <a:moveTo>
                  <a:pt x="0" y="0"/>
                </a:moveTo>
                <a:lnTo>
                  <a:pt x="5247142" y="0"/>
                </a:lnTo>
                <a:lnTo>
                  <a:pt x="5247142" y="5122522"/>
                </a:lnTo>
                <a:lnTo>
                  <a:pt x="0" y="5122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6" name="Google Shape;106;p1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864602" y="2487301"/>
            <a:ext cx="147630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 smtClean="0">
                <a:solidFill>
                  <a:srgbClr val="FFFFFF"/>
                </a:solidFill>
                <a:latin typeface="+mj-lt"/>
                <a:ea typeface="Roboto"/>
                <a:sym typeface="Roboto"/>
              </a:rPr>
              <a:t>KỸ NĂNG GIAO TIẾP VÀ SOẠN THẢO VĂN BẢN</a:t>
            </a:r>
            <a:endParaRPr dirty="0">
              <a:latin typeface="+mj-lt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250604" y="3848100"/>
            <a:ext cx="1135185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1"/>
          <p:cNvSpPr txBox="1"/>
          <p:nvPr/>
        </p:nvSpPr>
        <p:spPr>
          <a:xfrm>
            <a:off x="1990853" y="7039233"/>
            <a:ext cx="905876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môn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Kinh</a:t>
            </a:r>
            <a:r>
              <a:rPr lang="en-US" sz="27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tế</a:t>
            </a:r>
            <a:endParaRPr dirty="0"/>
          </a:p>
        </p:txBody>
      </p:sp>
      <p:sp>
        <p:nvSpPr>
          <p:cNvPr id="113" name="Google Shape;113;p1"/>
          <p:cNvSpPr txBox="1"/>
          <p:nvPr/>
        </p:nvSpPr>
        <p:spPr>
          <a:xfrm>
            <a:off x="1990853" y="7894578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Khoa: Kinh tế - Luật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1990853" y="8749923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994595" y="96052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12388" y="9702991"/>
            <a:ext cx="9058764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-34274" y="-34151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962400" y="1044402"/>
            <a:ext cx="10820400" cy="1457539"/>
            <a:chOff x="0" y="-47625"/>
            <a:chExt cx="2140304" cy="38387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140304" cy="336254"/>
            </a:xfrm>
            <a:custGeom>
              <a:avLst/>
              <a:gdLst/>
              <a:ahLst/>
              <a:cxnLst/>
              <a:rect l="l" t="t" r="r" b="b"/>
              <a:pathLst>
                <a:path w="2140304" h="336254" extrusionOk="0">
                  <a:moveTo>
                    <a:pt x="16196" y="0"/>
                  </a:moveTo>
                  <a:lnTo>
                    <a:pt x="2124108" y="0"/>
                  </a:lnTo>
                  <a:cubicBezTo>
                    <a:pt x="2128403" y="0"/>
                    <a:pt x="2132523" y="1706"/>
                    <a:pt x="2135560" y="4744"/>
                  </a:cubicBezTo>
                  <a:cubicBezTo>
                    <a:pt x="2138597" y="7781"/>
                    <a:pt x="2140304" y="11900"/>
                    <a:pt x="2140304" y="16196"/>
                  </a:cubicBezTo>
                  <a:lnTo>
                    <a:pt x="2140304" y="320058"/>
                  </a:lnTo>
                  <a:cubicBezTo>
                    <a:pt x="2140304" y="324353"/>
                    <a:pt x="2138597" y="328473"/>
                    <a:pt x="2135560" y="331510"/>
                  </a:cubicBezTo>
                  <a:cubicBezTo>
                    <a:pt x="2132523" y="334547"/>
                    <a:pt x="2128403" y="336254"/>
                    <a:pt x="2124108" y="336254"/>
                  </a:cubicBezTo>
                  <a:lnTo>
                    <a:pt x="16196" y="336254"/>
                  </a:lnTo>
                  <a:cubicBezTo>
                    <a:pt x="7251" y="336254"/>
                    <a:pt x="0" y="329003"/>
                    <a:pt x="0" y="320058"/>
                  </a:cubicBezTo>
                  <a:lnTo>
                    <a:pt x="0" y="16196"/>
                  </a:lnTo>
                  <a:cubicBezTo>
                    <a:pt x="0" y="11900"/>
                    <a:pt x="1706" y="7781"/>
                    <a:pt x="4744" y="4744"/>
                  </a:cubicBezTo>
                  <a:cubicBezTo>
                    <a:pt x="7781" y="1706"/>
                    <a:pt x="11900" y="0"/>
                    <a:pt x="16196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2140304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4326519" y="1394670"/>
            <a:ext cx="904060" cy="857727"/>
          </a:xfrm>
          <a:custGeom>
            <a:avLst/>
            <a:gdLst/>
            <a:ahLst/>
            <a:cxnLst/>
            <a:rect l="l" t="t" r="r" b="b"/>
            <a:pathLst>
              <a:path w="904060" h="857727" extrusionOk="0">
                <a:moveTo>
                  <a:pt x="0" y="0"/>
                </a:moveTo>
                <a:lnTo>
                  <a:pt x="904060" y="0"/>
                </a:lnTo>
                <a:lnTo>
                  <a:pt x="904060" y="857727"/>
                </a:lnTo>
                <a:lnTo>
                  <a:pt x="0" y="85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603725" y="4462563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2"/>
          <p:cNvCxnSpPr/>
          <p:nvPr/>
        </p:nvCxnSpPr>
        <p:spPr>
          <a:xfrm>
            <a:off x="5897880" y="27813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"/>
          <p:cNvCxnSpPr/>
          <p:nvPr/>
        </p:nvCxnSpPr>
        <p:spPr>
          <a:xfrm>
            <a:off x="9144000" y="4223917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/>
          <p:nvPr/>
        </p:nvSpPr>
        <p:spPr>
          <a:xfrm>
            <a:off x="1603725" y="5434798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603725" y="640663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410200" y="1444484"/>
            <a:ext cx="990600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TIÊU HỌC PHẦN/CHƯƠNG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2506246" y="44948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Hiểu được khái niệm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2506246" y="5473993"/>
            <a:ext cx="540169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tích được nội dung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506246" y="644582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Vận dụng vào thực tiễn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1603725" y="737846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2506246" y="7424996"/>
            <a:ext cx="356173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Giải quyết tình huống nghề nghiệp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10043901" y="4060809"/>
            <a:ext cx="7120190" cy="4930732"/>
          </a:xfrm>
          <a:custGeom>
            <a:avLst/>
            <a:gdLst/>
            <a:ahLst/>
            <a:cxnLst/>
            <a:rect l="l" t="t" r="r" b="b"/>
            <a:pathLst>
              <a:path w="7120190" h="4930732" extrusionOk="0">
                <a:moveTo>
                  <a:pt x="0" y="0"/>
                </a:moveTo>
                <a:lnTo>
                  <a:pt x="7120190" y="0"/>
                </a:lnTo>
                <a:lnTo>
                  <a:pt x="7120190" y="4930732"/>
                </a:lnTo>
                <a:lnTo>
                  <a:pt x="0" y="4930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8" name="Google Shape;148;p2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9209" y="0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5" name="Google Shape;165;p3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883202" y="1255649"/>
            <a:ext cx="11280598" cy="1457539"/>
            <a:chOff x="-137192" y="-47625"/>
            <a:chExt cx="2467893" cy="383879"/>
          </a:xfrm>
        </p:grpSpPr>
        <p:sp>
          <p:nvSpPr>
            <p:cNvPr id="169" name="Google Shape;169;p3"/>
            <p:cNvSpPr/>
            <p:nvPr/>
          </p:nvSpPr>
          <p:spPr>
            <a:xfrm>
              <a:off x="-137192" y="0"/>
              <a:ext cx="2467893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3"/>
          <p:cNvCxnSpPr/>
          <p:nvPr/>
        </p:nvCxnSpPr>
        <p:spPr>
          <a:xfrm>
            <a:off x="6146416" y="29337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"/>
          <p:cNvSpPr/>
          <p:nvPr/>
        </p:nvSpPr>
        <p:spPr>
          <a:xfrm>
            <a:off x="4171991" y="1658458"/>
            <a:ext cx="1009452" cy="716711"/>
          </a:xfrm>
          <a:custGeom>
            <a:avLst/>
            <a:gdLst/>
            <a:ahLst/>
            <a:cxnLst/>
            <a:rect l="l" t="t" r="r" b="b"/>
            <a:pathLst>
              <a:path w="1009452" h="716711" extrusionOk="0">
                <a:moveTo>
                  <a:pt x="0" y="0"/>
                </a:moveTo>
                <a:lnTo>
                  <a:pt x="1009452" y="0"/>
                </a:lnTo>
                <a:lnTo>
                  <a:pt x="1009452" y="716711"/>
                </a:lnTo>
                <a:lnTo>
                  <a:pt x="0" y="716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3" name="Google Shape;173;p3"/>
          <p:cNvGrpSpPr/>
          <p:nvPr/>
        </p:nvGrpSpPr>
        <p:grpSpPr>
          <a:xfrm>
            <a:off x="1451168" y="3873784"/>
            <a:ext cx="688429" cy="688429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75996" y="4982975"/>
            <a:ext cx="688429" cy="688429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1522086" y="6134690"/>
            <a:ext cx="688429" cy="688429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522086" y="7289845"/>
            <a:ext cx="688429" cy="688429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522086" y="8483099"/>
            <a:ext cx="688429" cy="688429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0043901" y="4157032"/>
            <a:ext cx="7554796" cy="5014496"/>
          </a:xfrm>
          <a:custGeom>
            <a:avLst/>
            <a:gdLst/>
            <a:ahLst/>
            <a:cxnLst/>
            <a:rect l="l" t="t" r="r" b="b"/>
            <a:pathLst>
              <a:path w="7554796" h="5014496" extrusionOk="0">
                <a:moveTo>
                  <a:pt x="0" y="0"/>
                </a:moveTo>
                <a:lnTo>
                  <a:pt x="7554795" y="0"/>
                </a:lnTo>
                <a:lnTo>
                  <a:pt x="7554795" y="5014496"/>
                </a:lnTo>
                <a:lnTo>
                  <a:pt x="0" y="501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3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5519751" y="1619706"/>
            <a:ext cx="1045376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HỌC PHẦN / 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07633" y="3885650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532103" y="3992766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nhất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1632461" y="499484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678551" y="6146556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678551" y="730171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678551" y="8494965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2532103" y="504993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hai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2552154" y="617410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ba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2532103" y="73292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tư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2532103" y="845320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năm</a:t>
            </a:r>
            <a:endParaRPr/>
          </a:p>
        </p:txBody>
      </p:sp>
      <p:grpSp>
        <p:nvGrpSpPr>
          <p:cNvPr id="202" name="Google Shape;202;p3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04" name="Google Shape;204;p3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4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12" name="Google Shape;212;p4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4"/>
          <p:cNvSpPr/>
          <p:nvPr/>
        </p:nvSpPr>
        <p:spPr>
          <a:xfrm>
            <a:off x="4719312" y="281980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5" name="Google Shape;215;p4"/>
          <p:cNvGrpSpPr/>
          <p:nvPr/>
        </p:nvGrpSpPr>
        <p:grpSpPr>
          <a:xfrm>
            <a:off x="3109328" y="1513664"/>
            <a:ext cx="12368154" cy="1457539"/>
            <a:chOff x="0" y="-47625"/>
            <a:chExt cx="3257456" cy="383879"/>
          </a:xfrm>
        </p:grpSpPr>
        <p:sp>
          <p:nvSpPr>
            <p:cNvPr id="216" name="Google Shape;216;p4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4"/>
          <p:cNvSpPr txBox="1"/>
          <p:nvPr/>
        </p:nvSpPr>
        <p:spPr>
          <a:xfrm>
            <a:off x="2231291" y="1934031"/>
            <a:ext cx="14141653" cy="75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3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GIẢNG DẠY VÀ HỌC TẬP</a:t>
            </a:r>
            <a:endParaRPr/>
          </a:p>
        </p:txBody>
      </p:sp>
      <p:grpSp>
        <p:nvGrpSpPr>
          <p:cNvPr id="219" name="Google Shape;219;p4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20" name="Google Shape;220;p4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1" name="Google Shape;221;p4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4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23" name="Google Shape;223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4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4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grpSp>
        <p:nvGrpSpPr>
          <p:cNvPr id="230" name="Google Shape;230;p4"/>
          <p:cNvGrpSpPr/>
          <p:nvPr/>
        </p:nvGrpSpPr>
        <p:grpSpPr>
          <a:xfrm>
            <a:off x="11181559" y="2552700"/>
            <a:ext cx="13343213" cy="13341323"/>
            <a:chOff x="-470942" y="-533427"/>
            <a:chExt cx="1207542" cy="1270027"/>
          </a:xfrm>
        </p:grpSpPr>
        <p:sp>
          <p:nvSpPr>
            <p:cNvPr id="231" name="Google Shape;231;p4"/>
            <p:cNvSpPr/>
            <p:nvPr/>
          </p:nvSpPr>
          <p:spPr>
            <a:xfrm>
              <a:off x="-470942" y="-53342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805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4"/>
          <p:cNvSpPr/>
          <p:nvPr/>
        </p:nvSpPr>
        <p:spPr>
          <a:xfrm>
            <a:off x="13259958" y="3256557"/>
            <a:ext cx="4481564" cy="5827243"/>
          </a:xfrm>
          <a:custGeom>
            <a:avLst/>
            <a:gdLst/>
            <a:ahLst/>
            <a:cxnLst/>
            <a:rect l="l" t="t" r="r" b="b"/>
            <a:pathLst>
              <a:path w="980550" h="1274980" extrusionOk="0">
                <a:moveTo>
                  <a:pt x="39733" y="0"/>
                </a:moveTo>
                <a:lnTo>
                  <a:pt x="940818" y="0"/>
                </a:lnTo>
                <a:cubicBezTo>
                  <a:pt x="962761" y="0"/>
                  <a:pt x="980550" y="17789"/>
                  <a:pt x="980550" y="39733"/>
                </a:cubicBezTo>
                <a:lnTo>
                  <a:pt x="980550" y="1235248"/>
                </a:lnTo>
                <a:cubicBezTo>
                  <a:pt x="980550" y="1257191"/>
                  <a:pt x="962761" y="1274980"/>
                  <a:pt x="940818" y="1274980"/>
                </a:cubicBezTo>
                <a:lnTo>
                  <a:pt x="39733" y="1274980"/>
                </a:lnTo>
                <a:cubicBezTo>
                  <a:pt x="17789" y="1274980"/>
                  <a:pt x="0" y="1257191"/>
                  <a:pt x="0" y="1235248"/>
                </a:cubicBezTo>
                <a:lnTo>
                  <a:pt x="0" y="39733"/>
                </a:lnTo>
                <a:cubicBezTo>
                  <a:pt x="0" y="17789"/>
                  <a:pt x="17789" y="0"/>
                  <a:pt x="3973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25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1702933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/>
          <p:nvPr/>
        </p:nvSpPr>
        <p:spPr>
          <a:xfrm>
            <a:off x="4719313" y="277935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2" name="Google Shape;242;p5"/>
          <p:cNvGrpSpPr/>
          <p:nvPr/>
        </p:nvGrpSpPr>
        <p:grpSpPr>
          <a:xfrm>
            <a:off x="3100615" y="1735300"/>
            <a:ext cx="12368154" cy="1457539"/>
            <a:chOff x="0" y="-47625"/>
            <a:chExt cx="3257456" cy="383879"/>
          </a:xfrm>
        </p:grpSpPr>
        <p:sp>
          <p:nvSpPr>
            <p:cNvPr id="243" name="Google Shape;243;p5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45" name="Google Shape;245;p5"/>
          <p:cNvGraphicFramePr/>
          <p:nvPr/>
        </p:nvGraphicFramePr>
        <p:xfrm>
          <a:off x="1028700" y="3469064"/>
          <a:ext cx="16230600" cy="5379350"/>
        </p:xfrm>
        <a:graphic>
          <a:graphicData uri="http://schemas.openxmlformats.org/drawingml/2006/table">
            <a:tbl>
              <a:tblPr>
                <a:noFill/>
                <a:tableStyleId>{E0F7F910-62E2-467A-A3EA-7CB14D2E1E0A}</a:tableStyleId>
              </a:tblPr>
              <a:tblGrid>
                <a:gridCol w="5561525"/>
                <a:gridCol w="5900500"/>
                <a:gridCol w="4768575"/>
              </a:tblGrid>
              <a:tr h="157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5"/>
          <p:cNvSpPr txBox="1"/>
          <p:nvPr/>
        </p:nvSpPr>
        <p:spPr>
          <a:xfrm>
            <a:off x="2222578" y="2155667"/>
            <a:ext cx="14141653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KIỂM TRA ĐÁNH GIÁ</a:t>
            </a:r>
            <a:endParaRPr/>
          </a:p>
        </p:txBody>
      </p:sp>
      <p:grpSp>
        <p:nvGrpSpPr>
          <p:cNvPr id="247" name="Google Shape;247;p5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48" name="Google Shape;248;p5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9" name="Google Shape;249;p5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5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51" name="Google Shape;251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5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54" name="Google Shape;254;p5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55" name="Google Shape;255;p5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5"/>
          <p:cNvSpPr txBox="1"/>
          <p:nvPr/>
        </p:nvSpPr>
        <p:spPr>
          <a:xfrm>
            <a:off x="8951416" y="9649968"/>
            <a:ext cx="385167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135192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NỘI DUNG ĐÁNH GIÁ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727407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BÀI ĐÁNH GIÁ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12630398" y="387630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HỆ SỐ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351928" y="5249810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chuyên cần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1351928" y="6573785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quá trình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1351928" y="8006530"/>
            <a:ext cx="569887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kết thúc học phần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167147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6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72" name="Google Shape;272;p6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6"/>
          <p:cNvSpPr/>
          <p:nvPr/>
        </p:nvSpPr>
        <p:spPr>
          <a:xfrm>
            <a:off x="4719313" y="308058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5" name="Google Shape;275;p6"/>
          <p:cNvGrpSpPr/>
          <p:nvPr/>
        </p:nvGrpSpPr>
        <p:grpSpPr>
          <a:xfrm>
            <a:off x="4719313" y="2024673"/>
            <a:ext cx="8849379" cy="1457539"/>
            <a:chOff x="0" y="-47625"/>
            <a:chExt cx="2330700" cy="383879"/>
          </a:xfrm>
        </p:grpSpPr>
        <p:sp>
          <p:nvSpPr>
            <p:cNvPr id="276" name="Google Shape;276;p6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6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6"/>
          <p:cNvSpPr/>
          <p:nvPr/>
        </p:nvSpPr>
        <p:spPr>
          <a:xfrm>
            <a:off x="5781567" y="2346460"/>
            <a:ext cx="849304" cy="994792"/>
          </a:xfrm>
          <a:custGeom>
            <a:avLst/>
            <a:gdLst/>
            <a:ahLst/>
            <a:cxnLst/>
            <a:rect l="l" t="t" r="r" b="b"/>
            <a:pathLst>
              <a:path w="849304" h="994792" extrusionOk="0">
                <a:moveTo>
                  <a:pt x="0" y="0"/>
                </a:moveTo>
                <a:lnTo>
                  <a:pt x="849304" y="0"/>
                </a:lnTo>
                <a:lnTo>
                  <a:pt x="849304" y="994792"/>
                </a:lnTo>
                <a:lnTo>
                  <a:pt x="0" y="994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9" name="Google Shape;279;p6"/>
          <p:cNvSpPr/>
          <p:nvPr/>
        </p:nvSpPr>
        <p:spPr>
          <a:xfrm>
            <a:off x="2979216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6" y="0"/>
                </a:lnTo>
                <a:lnTo>
                  <a:pt x="4388536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grpSp>
        <p:nvGrpSpPr>
          <p:cNvPr id="280" name="Google Shape;280;p6"/>
          <p:cNvGrpSpPr/>
          <p:nvPr/>
        </p:nvGrpSpPr>
        <p:grpSpPr>
          <a:xfrm>
            <a:off x="2573416" y="4204252"/>
            <a:ext cx="5424379" cy="4468273"/>
            <a:chOff x="0" y="-47625"/>
            <a:chExt cx="1428643" cy="1176829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1428643" cy="1129204"/>
            </a:xfrm>
            <a:custGeom>
              <a:avLst/>
              <a:gdLst/>
              <a:ahLst/>
              <a:cxnLst/>
              <a:rect l="l" t="t" r="r" b="b"/>
              <a:pathLst>
                <a:path w="1428643" h="1129204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83532"/>
                  </a:lnTo>
                  <a:cubicBezTo>
                    <a:pt x="1428643" y="1095645"/>
                    <a:pt x="1423831" y="1107262"/>
                    <a:pt x="1415266" y="1115827"/>
                  </a:cubicBezTo>
                  <a:cubicBezTo>
                    <a:pt x="1406701" y="1124392"/>
                    <a:pt x="1395084" y="1129204"/>
                    <a:pt x="1382971" y="1129204"/>
                  </a:cubicBezTo>
                  <a:lnTo>
                    <a:pt x="45672" y="1129204"/>
                  </a:lnTo>
                  <a:cubicBezTo>
                    <a:pt x="33559" y="1129204"/>
                    <a:pt x="21942" y="1124392"/>
                    <a:pt x="13377" y="1115827"/>
                  </a:cubicBezTo>
                  <a:cubicBezTo>
                    <a:pt x="4812" y="1107262"/>
                    <a:pt x="0" y="1095645"/>
                    <a:pt x="0" y="1083532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0" y="-47625"/>
              <a:ext cx="1428643" cy="1176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6"/>
          <p:cNvGrpSpPr/>
          <p:nvPr/>
        </p:nvGrpSpPr>
        <p:grpSpPr>
          <a:xfrm>
            <a:off x="10297650" y="4168161"/>
            <a:ext cx="5424379" cy="4504364"/>
            <a:chOff x="0" y="-47625"/>
            <a:chExt cx="1428643" cy="1186335"/>
          </a:xfrm>
        </p:grpSpPr>
        <p:sp>
          <p:nvSpPr>
            <p:cNvPr id="284" name="Google Shape;284;p6"/>
            <p:cNvSpPr/>
            <p:nvPr/>
          </p:nvSpPr>
          <p:spPr>
            <a:xfrm>
              <a:off x="0" y="0"/>
              <a:ext cx="1428643" cy="1138710"/>
            </a:xfrm>
            <a:custGeom>
              <a:avLst/>
              <a:gdLst/>
              <a:ahLst/>
              <a:cxnLst/>
              <a:rect l="l" t="t" r="r" b="b"/>
              <a:pathLst>
                <a:path w="1428643" h="1138710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93038"/>
                  </a:lnTo>
                  <a:cubicBezTo>
                    <a:pt x="1428643" y="1105151"/>
                    <a:pt x="1423831" y="1116768"/>
                    <a:pt x="1415266" y="1125333"/>
                  </a:cubicBezTo>
                  <a:cubicBezTo>
                    <a:pt x="1406701" y="1133898"/>
                    <a:pt x="1395084" y="1138710"/>
                    <a:pt x="1382971" y="1138710"/>
                  </a:cubicBezTo>
                  <a:lnTo>
                    <a:pt x="45672" y="1138710"/>
                  </a:lnTo>
                  <a:cubicBezTo>
                    <a:pt x="33559" y="1138710"/>
                    <a:pt x="21942" y="1133898"/>
                    <a:pt x="13377" y="1125333"/>
                  </a:cubicBezTo>
                  <a:cubicBezTo>
                    <a:pt x="4812" y="1116768"/>
                    <a:pt x="0" y="1105151"/>
                    <a:pt x="0" y="1093038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0" y="-47625"/>
              <a:ext cx="1428643" cy="1186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6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87" name="Google Shape;287;p6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8" name="Google Shape;288;p6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6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90" name="Google Shape;29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6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93" name="Google Shape;293;p6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94" name="Google Shape;294;p6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6"/>
          <p:cNvSpPr txBox="1"/>
          <p:nvPr/>
        </p:nvSpPr>
        <p:spPr>
          <a:xfrm>
            <a:off x="6206219" y="2424756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TÀI LIỆU HỌC TẬP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98" name="Google Shape;298;p6"/>
          <p:cNvSpPr txBox="1"/>
          <p:nvPr/>
        </p:nvSpPr>
        <p:spPr>
          <a:xfrm>
            <a:off x="1224946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Giáo trình chính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9027059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Tài liệu tham khảo</a:t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10815572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5" y="0"/>
                </a:lnTo>
                <a:lnTo>
                  <a:pt x="4388535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sp>
        <p:nvSpPr>
          <p:cNvPr id="301" name="Google Shape;301;p6"/>
          <p:cNvSpPr txBox="1"/>
          <p:nvPr/>
        </p:nvSpPr>
        <p:spPr>
          <a:xfrm>
            <a:off x="160656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/>
          <p:nvPr/>
        </p:nvSpPr>
        <p:spPr>
          <a:xfrm>
            <a:off x="4770773" y="2007099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2795670" y="1093906"/>
            <a:ext cx="12995470" cy="1457539"/>
            <a:chOff x="0" y="-47625"/>
            <a:chExt cx="3422675" cy="38387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422675" cy="336254"/>
            </a:xfrm>
            <a:custGeom>
              <a:avLst/>
              <a:gdLst/>
              <a:ahLst/>
              <a:cxnLst/>
              <a:rect l="l" t="t" r="r" b="b"/>
              <a:pathLst>
                <a:path w="3422675" h="336254" extrusionOk="0">
                  <a:moveTo>
                    <a:pt x="10128" y="0"/>
                  </a:moveTo>
                  <a:lnTo>
                    <a:pt x="3412548" y="0"/>
                  </a:lnTo>
                  <a:cubicBezTo>
                    <a:pt x="3418141" y="0"/>
                    <a:pt x="3422675" y="4534"/>
                    <a:pt x="3422675" y="10128"/>
                  </a:cubicBezTo>
                  <a:lnTo>
                    <a:pt x="3422675" y="326126"/>
                  </a:lnTo>
                  <a:cubicBezTo>
                    <a:pt x="3422675" y="328812"/>
                    <a:pt x="3421608" y="331388"/>
                    <a:pt x="3419709" y="333287"/>
                  </a:cubicBezTo>
                  <a:cubicBezTo>
                    <a:pt x="3417810" y="335187"/>
                    <a:pt x="3415234" y="336254"/>
                    <a:pt x="3412548" y="336254"/>
                  </a:cubicBezTo>
                  <a:lnTo>
                    <a:pt x="10128" y="336254"/>
                  </a:lnTo>
                  <a:cubicBezTo>
                    <a:pt x="4534" y="336254"/>
                    <a:pt x="0" y="331719"/>
                    <a:pt x="0" y="326126"/>
                  </a:cubicBezTo>
                  <a:lnTo>
                    <a:pt x="0" y="10128"/>
                  </a:lnTo>
                  <a:cubicBezTo>
                    <a:pt x="0" y="4534"/>
                    <a:pt x="4534" y="0"/>
                    <a:pt x="10128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47625"/>
              <a:ext cx="3422675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537593" y="3162569"/>
            <a:ext cx="7295981" cy="3500808"/>
            <a:chOff x="0" y="-47625"/>
            <a:chExt cx="1921575" cy="922024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921575" cy="874399"/>
            </a:xfrm>
            <a:custGeom>
              <a:avLst/>
              <a:gdLst/>
              <a:ahLst/>
              <a:cxnLst/>
              <a:rect l="l" t="t" r="r" b="b"/>
              <a:pathLst>
                <a:path w="1921575" h="874399" extrusionOk="0">
                  <a:moveTo>
                    <a:pt x="20161" y="0"/>
                  </a:moveTo>
                  <a:lnTo>
                    <a:pt x="1901414" y="0"/>
                  </a:lnTo>
                  <a:cubicBezTo>
                    <a:pt x="1912549" y="0"/>
                    <a:pt x="1921575" y="9027"/>
                    <a:pt x="1921575" y="20161"/>
                  </a:cubicBezTo>
                  <a:lnTo>
                    <a:pt x="1921575" y="854237"/>
                  </a:lnTo>
                  <a:cubicBezTo>
                    <a:pt x="1921575" y="865372"/>
                    <a:pt x="1912549" y="874399"/>
                    <a:pt x="1901414" y="874399"/>
                  </a:cubicBezTo>
                  <a:lnTo>
                    <a:pt x="20161" y="874399"/>
                  </a:lnTo>
                  <a:cubicBezTo>
                    <a:pt x="9027" y="874399"/>
                    <a:pt x="0" y="865372"/>
                    <a:pt x="0" y="854237"/>
                  </a:cubicBezTo>
                  <a:lnTo>
                    <a:pt x="0" y="20161"/>
                  </a:lnTo>
                  <a:cubicBezTo>
                    <a:pt x="0" y="9027"/>
                    <a:pt x="9027" y="0"/>
                    <a:pt x="20161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47625"/>
              <a:ext cx="1921575" cy="922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7"/>
          <p:cNvGrpSpPr/>
          <p:nvPr/>
        </p:nvGrpSpPr>
        <p:grpSpPr>
          <a:xfrm>
            <a:off x="6528716" y="6939518"/>
            <a:ext cx="5008011" cy="1059797"/>
            <a:chOff x="0" y="-76200"/>
            <a:chExt cx="1949025" cy="412454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1949025" cy="336254"/>
            </a:xfrm>
            <a:custGeom>
              <a:avLst/>
              <a:gdLst/>
              <a:ahLst/>
              <a:cxnLst/>
              <a:rect l="l" t="t" r="r" b="b"/>
              <a:pathLst>
                <a:path w="1949025" h="336254" extrusionOk="0">
                  <a:moveTo>
                    <a:pt x="26280" y="0"/>
                  </a:moveTo>
                  <a:lnTo>
                    <a:pt x="1922745" y="0"/>
                  </a:lnTo>
                  <a:cubicBezTo>
                    <a:pt x="1929715" y="0"/>
                    <a:pt x="1936399" y="2769"/>
                    <a:pt x="1941328" y="7697"/>
                  </a:cubicBezTo>
                  <a:cubicBezTo>
                    <a:pt x="1946256" y="12626"/>
                    <a:pt x="1949025" y="19310"/>
                    <a:pt x="1949025" y="26280"/>
                  </a:cubicBezTo>
                  <a:lnTo>
                    <a:pt x="1949025" y="309973"/>
                  </a:lnTo>
                  <a:cubicBezTo>
                    <a:pt x="1949025" y="316943"/>
                    <a:pt x="1946256" y="323628"/>
                    <a:pt x="1941328" y="328556"/>
                  </a:cubicBezTo>
                  <a:cubicBezTo>
                    <a:pt x="1936399" y="333485"/>
                    <a:pt x="1929715" y="336254"/>
                    <a:pt x="1922745" y="336254"/>
                  </a:cubicBezTo>
                  <a:lnTo>
                    <a:pt x="26280" y="336254"/>
                  </a:lnTo>
                  <a:cubicBezTo>
                    <a:pt x="19310" y="336254"/>
                    <a:pt x="12626" y="333485"/>
                    <a:pt x="7697" y="328556"/>
                  </a:cubicBezTo>
                  <a:cubicBezTo>
                    <a:pt x="2769" y="323628"/>
                    <a:pt x="0" y="316943"/>
                    <a:pt x="0" y="309973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0E514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0" y="-76200"/>
              <a:ext cx="1949025" cy="41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7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1201080" y="8654813"/>
            <a:ext cx="547366" cy="547366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A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7410614" y="8609730"/>
            <a:ext cx="547366" cy="547366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7"/>
          <p:cNvGrpSpPr/>
          <p:nvPr/>
        </p:nvGrpSpPr>
        <p:grpSpPr>
          <a:xfrm>
            <a:off x="13620147" y="8654813"/>
            <a:ext cx="547366" cy="547366"/>
            <a:chOff x="0" y="0"/>
            <a:chExt cx="812800" cy="812800"/>
          </a:xfrm>
        </p:grpSpPr>
        <p:sp>
          <p:nvSpPr>
            <p:cNvPr id="334" name="Google Shape;33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7"/>
          <p:cNvSpPr/>
          <p:nvPr/>
        </p:nvSpPr>
        <p:spPr>
          <a:xfrm>
            <a:off x="9217852" y="2762764"/>
            <a:ext cx="7965895" cy="3524909"/>
          </a:xfrm>
          <a:custGeom>
            <a:avLst/>
            <a:gdLst/>
            <a:ahLst/>
            <a:cxnLst/>
            <a:rect l="l" t="t" r="r" b="b"/>
            <a:pathLst>
              <a:path w="7965895" h="3524909" extrusionOk="0">
                <a:moveTo>
                  <a:pt x="0" y="0"/>
                </a:moveTo>
                <a:lnTo>
                  <a:pt x="7965895" y="0"/>
                </a:lnTo>
                <a:lnTo>
                  <a:pt x="7965895" y="3524908"/>
                </a:lnTo>
                <a:lnTo>
                  <a:pt x="0" y="3524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7"/>
          <p:cNvSpPr txBox="1"/>
          <p:nvPr/>
        </p:nvSpPr>
        <p:spPr>
          <a:xfrm>
            <a:off x="3510248" y="1534946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CASE STUDY/ TÌNH HUỐNG THỰC TIỄN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467213" y="3631537"/>
            <a:ext cx="5061503" cy="67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TÌNH HUỐNG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6932449" y="7271377"/>
            <a:ext cx="4604278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CÂU HỎI PHÂN TÍCH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1325485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1929762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7535018" y="8622600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8139296" y="8578613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3744552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14348829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853193" y="4529777"/>
            <a:ext cx="666478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tình huống thực tế liên quan đến nội dung bài học.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4719313" y="1373538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8" name="Google Shape;358;p8"/>
          <p:cNvGrpSpPr/>
          <p:nvPr/>
        </p:nvGrpSpPr>
        <p:grpSpPr>
          <a:xfrm>
            <a:off x="5143052" y="853975"/>
            <a:ext cx="6784530" cy="1457539"/>
            <a:chOff x="0" y="-47625"/>
            <a:chExt cx="1786872" cy="383879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786872" cy="336254"/>
            </a:xfrm>
            <a:custGeom>
              <a:avLst/>
              <a:gdLst/>
              <a:ahLst/>
              <a:cxnLst/>
              <a:rect l="l" t="t" r="r" b="b"/>
              <a:pathLst>
                <a:path w="1786872" h="336254" extrusionOk="0">
                  <a:moveTo>
                    <a:pt x="19399" y="0"/>
                  </a:moveTo>
                  <a:lnTo>
                    <a:pt x="1767473" y="0"/>
                  </a:lnTo>
                  <a:cubicBezTo>
                    <a:pt x="1772618" y="0"/>
                    <a:pt x="1777552" y="2044"/>
                    <a:pt x="1781190" y="5682"/>
                  </a:cubicBezTo>
                  <a:cubicBezTo>
                    <a:pt x="1784828" y="9320"/>
                    <a:pt x="1786872" y="14254"/>
                    <a:pt x="1786872" y="19399"/>
                  </a:cubicBezTo>
                  <a:lnTo>
                    <a:pt x="1786872" y="316855"/>
                  </a:lnTo>
                  <a:cubicBezTo>
                    <a:pt x="1786872" y="322000"/>
                    <a:pt x="1784828" y="326934"/>
                    <a:pt x="1781190" y="330572"/>
                  </a:cubicBezTo>
                  <a:cubicBezTo>
                    <a:pt x="1777552" y="334210"/>
                    <a:pt x="1772618" y="336254"/>
                    <a:pt x="1767473" y="336254"/>
                  </a:cubicBezTo>
                  <a:lnTo>
                    <a:pt x="19399" y="336254"/>
                  </a:lnTo>
                  <a:cubicBezTo>
                    <a:pt x="14254" y="336254"/>
                    <a:pt x="9320" y="334210"/>
                    <a:pt x="5682" y="330572"/>
                  </a:cubicBezTo>
                  <a:cubicBezTo>
                    <a:pt x="2044" y="326934"/>
                    <a:pt x="0" y="322000"/>
                    <a:pt x="0" y="316855"/>
                  </a:cubicBezTo>
                  <a:lnTo>
                    <a:pt x="0" y="19399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9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0" y="-47625"/>
              <a:ext cx="1786872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5976810" y="1263578"/>
            <a:ext cx="1229504" cy="819157"/>
          </a:xfrm>
          <a:custGeom>
            <a:avLst/>
            <a:gdLst/>
            <a:ahLst/>
            <a:cxnLst/>
            <a:rect l="l" t="t" r="r" b="b"/>
            <a:pathLst>
              <a:path w="1229504" h="819157" extrusionOk="0">
                <a:moveTo>
                  <a:pt x="0" y="0"/>
                </a:moveTo>
                <a:lnTo>
                  <a:pt x="1229504" y="0"/>
                </a:lnTo>
                <a:lnTo>
                  <a:pt x="1229504" y="819158"/>
                </a:lnTo>
                <a:lnTo>
                  <a:pt x="0" y="81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8"/>
          <p:cNvGrpSpPr/>
          <p:nvPr/>
        </p:nvGrpSpPr>
        <p:grpSpPr>
          <a:xfrm>
            <a:off x="1270595" y="3185950"/>
            <a:ext cx="8714765" cy="4885364"/>
            <a:chOff x="0" y="-47625"/>
            <a:chExt cx="2295247" cy="128668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2295247" cy="1239055"/>
            </a:xfrm>
            <a:custGeom>
              <a:avLst/>
              <a:gdLst/>
              <a:ahLst/>
              <a:cxnLst/>
              <a:rect l="l" t="t" r="r" b="b"/>
              <a:pathLst>
                <a:path w="2295247" h="1239055" extrusionOk="0">
                  <a:moveTo>
                    <a:pt x="28428" y="0"/>
                  </a:moveTo>
                  <a:lnTo>
                    <a:pt x="2266819" y="0"/>
                  </a:lnTo>
                  <a:cubicBezTo>
                    <a:pt x="2274358" y="0"/>
                    <a:pt x="2281589" y="2995"/>
                    <a:pt x="2286920" y="8326"/>
                  </a:cubicBezTo>
                  <a:cubicBezTo>
                    <a:pt x="2292252" y="13658"/>
                    <a:pt x="2295247" y="20888"/>
                    <a:pt x="2295247" y="28428"/>
                  </a:cubicBezTo>
                  <a:lnTo>
                    <a:pt x="2295247" y="1210627"/>
                  </a:lnTo>
                  <a:cubicBezTo>
                    <a:pt x="2295247" y="1218167"/>
                    <a:pt x="2292252" y="1225398"/>
                    <a:pt x="2286920" y="1230729"/>
                  </a:cubicBezTo>
                  <a:cubicBezTo>
                    <a:pt x="2281589" y="1236060"/>
                    <a:pt x="2274358" y="1239055"/>
                    <a:pt x="2266819" y="1239055"/>
                  </a:cubicBezTo>
                  <a:lnTo>
                    <a:pt x="28428" y="1239055"/>
                  </a:lnTo>
                  <a:cubicBezTo>
                    <a:pt x="12728" y="1239055"/>
                    <a:pt x="0" y="1226328"/>
                    <a:pt x="0" y="1210627"/>
                  </a:cubicBezTo>
                  <a:lnTo>
                    <a:pt x="0" y="28428"/>
                  </a:lnTo>
                  <a:cubicBezTo>
                    <a:pt x="0" y="20888"/>
                    <a:pt x="2995" y="13658"/>
                    <a:pt x="8326" y="8326"/>
                  </a:cubicBezTo>
                  <a:cubicBezTo>
                    <a:pt x="13658" y="2995"/>
                    <a:pt x="20888" y="0"/>
                    <a:pt x="28428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0" y="-47625"/>
              <a:ext cx="2295247" cy="12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8"/>
          <p:cNvSpPr/>
          <p:nvPr/>
        </p:nvSpPr>
        <p:spPr>
          <a:xfrm>
            <a:off x="10786288" y="6257021"/>
            <a:ext cx="6701236" cy="3291982"/>
          </a:xfrm>
          <a:custGeom>
            <a:avLst/>
            <a:gdLst/>
            <a:ahLst/>
            <a:cxnLst/>
            <a:rect l="l" t="t" r="r" b="b"/>
            <a:pathLst>
              <a:path w="6701236" h="3291982" extrusionOk="0">
                <a:moveTo>
                  <a:pt x="0" y="0"/>
                </a:moveTo>
                <a:lnTo>
                  <a:pt x="6701235" y="0"/>
                </a:lnTo>
                <a:lnTo>
                  <a:pt x="6701235" y="3291982"/>
                </a:lnTo>
                <a:lnTo>
                  <a:pt x="0" y="3291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6" name="Google Shape;366;p8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8" name="Google Shape;368;p8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73" name="Google Shape;373;p8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74" name="Google Shape;374;p8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8"/>
          <p:cNvSpPr/>
          <p:nvPr/>
        </p:nvSpPr>
        <p:spPr>
          <a:xfrm>
            <a:off x="1752859" y="3058400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0" y="0"/>
                </a:moveTo>
                <a:lnTo>
                  <a:pt x="803585" y="0"/>
                </a:lnTo>
                <a:lnTo>
                  <a:pt x="803585" y="616752"/>
                </a:lnTo>
                <a:lnTo>
                  <a:pt x="0" y="61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8"/>
          <p:cNvSpPr txBox="1"/>
          <p:nvPr/>
        </p:nvSpPr>
        <p:spPr>
          <a:xfrm>
            <a:off x="3544847" y="1295015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THẢO LUẬN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554613" y="4200588"/>
            <a:ext cx="8068459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Câu hỏi ?</a:t>
            </a:r>
            <a:endParaRPr sz="4500" b="1" i="0" u="none" strike="noStrike" cap="none">
              <a:solidFill>
                <a:srgbClr val="0E6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8"/>
          <p:cNvSpPr/>
          <p:nvPr/>
        </p:nvSpPr>
        <p:spPr>
          <a:xfrm rot="10800000">
            <a:off x="8588950" y="7762938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803585" y="616752"/>
                </a:moveTo>
                <a:lnTo>
                  <a:pt x="0" y="616752"/>
                </a:lnTo>
                <a:lnTo>
                  <a:pt x="0" y="0"/>
                </a:lnTo>
                <a:lnTo>
                  <a:pt x="803585" y="0"/>
                </a:lnTo>
                <a:lnTo>
                  <a:pt x="803585" y="61675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1" name="Google Shape;381;p8"/>
          <p:cNvGrpSpPr/>
          <p:nvPr/>
        </p:nvGrpSpPr>
        <p:grpSpPr>
          <a:xfrm>
            <a:off x="11927582" y="2242038"/>
            <a:ext cx="4960970" cy="1433114"/>
            <a:chOff x="0" y="-47625"/>
            <a:chExt cx="1306593" cy="377446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1306593" cy="329821"/>
            </a:xfrm>
            <a:custGeom>
              <a:avLst/>
              <a:gdLst/>
              <a:ahLst/>
              <a:cxnLst/>
              <a:rect l="l" t="t" r="r" b="b"/>
              <a:pathLst>
                <a:path w="1306593" h="329821" extrusionOk="0">
                  <a:moveTo>
                    <a:pt x="29651" y="0"/>
                  </a:moveTo>
                  <a:lnTo>
                    <a:pt x="1276942" y="0"/>
                  </a:lnTo>
                  <a:cubicBezTo>
                    <a:pt x="1284806" y="0"/>
                    <a:pt x="1292348" y="3124"/>
                    <a:pt x="1297908" y="8685"/>
                  </a:cubicBezTo>
                  <a:cubicBezTo>
                    <a:pt x="1303469" y="14245"/>
                    <a:pt x="1306593" y="21787"/>
                    <a:pt x="1306593" y="29651"/>
                  </a:cubicBezTo>
                  <a:lnTo>
                    <a:pt x="1306593" y="300170"/>
                  </a:lnTo>
                  <a:cubicBezTo>
                    <a:pt x="1306593" y="316546"/>
                    <a:pt x="1293318" y="329821"/>
                    <a:pt x="1276942" y="329821"/>
                  </a:cubicBezTo>
                  <a:lnTo>
                    <a:pt x="29651" y="329821"/>
                  </a:lnTo>
                  <a:cubicBezTo>
                    <a:pt x="13275" y="329821"/>
                    <a:pt x="0" y="316546"/>
                    <a:pt x="0" y="300170"/>
                  </a:cubicBezTo>
                  <a:lnTo>
                    <a:pt x="0" y="29651"/>
                  </a:lnTo>
                  <a:cubicBezTo>
                    <a:pt x="0" y="21787"/>
                    <a:pt x="3124" y="14245"/>
                    <a:pt x="8685" y="8685"/>
                  </a:cubicBezTo>
                  <a:cubicBezTo>
                    <a:pt x="14245" y="3124"/>
                    <a:pt x="21787" y="0"/>
                    <a:pt x="2965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 cmpd="sng">
              <a:solidFill>
                <a:srgbClr val="21B52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0" y="-47625"/>
              <a:ext cx="1306593" cy="377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2894929" y="3950306"/>
            <a:ext cx="3145157" cy="2481947"/>
            <a:chOff x="0" y="-47625"/>
            <a:chExt cx="828354" cy="653682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828354" cy="606057"/>
            </a:xfrm>
            <a:custGeom>
              <a:avLst/>
              <a:gdLst/>
              <a:ahLst/>
              <a:cxnLst/>
              <a:rect l="l" t="t" r="r" b="b"/>
              <a:pathLst>
                <a:path w="828354" h="606057" extrusionOk="0">
                  <a:moveTo>
                    <a:pt x="0" y="0"/>
                  </a:moveTo>
                  <a:lnTo>
                    <a:pt x="828354" y="0"/>
                  </a:lnTo>
                  <a:lnTo>
                    <a:pt x="828354" y="606057"/>
                  </a:lnTo>
                  <a:lnTo>
                    <a:pt x="0" y="606057"/>
                  </a:ln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0E6B2D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47625"/>
              <a:ext cx="828354" cy="653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12441115" y="2486900"/>
            <a:ext cx="405278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Quét QR để tham gia thảo luận (nếu có)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537071" y="147781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9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/>
          <p:nvPr/>
        </p:nvSpPr>
        <p:spPr>
          <a:xfrm>
            <a:off x="33119" y="-2978"/>
            <a:ext cx="1342325" cy="1341654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9"/>
          <p:cNvSpPr/>
          <p:nvPr/>
        </p:nvSpPr>
        <p:spPr>
          <a:xfrm>
            <a:off x="4868717" y="1825115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2" name="Google Shape;402;p9"/>
          <p:cNvGrpSpPr/>
          <p:nvPr/>
        </p:nvGrpSpPr>
        <p:grpSpPr>
          <a:xfrm>
            <a:off x="4934741" y="879891"/>
            <a:ext cx="7921450" cy="1590471"/>
            <a:chOff x="0" y="-47625"/>
            <a:chExt cx="2330700" cy="383879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9"/>
          <p:cNvSpPr/>
          <p:nvPr/>
        </p:nvSpPr>
        <p:spPr>
          <a:xfrm flipH="1">
            <a:off x="5397471" y="1351673"/>
            <a:ext cx="630083" cy="809686"/>
          </a:xfrm>
          <a:custGeom>
            <a:avLst/>
            <a:gdLst/>
            <a:ahLst/>
            <a:cxnLst/>
            <a:rect l="l" t="t" r="r" b="b"/>
            <a:pathLst>
              <a:path w="630083" h="809686" extrusionOk="0">
                <a:moveTo>
                  <a:pt x="630082" y="0"/>
                </a:moveTo>
                <a:lnTo>
                  <a:pt x="0" y="0"/>
                </a:lnTo>
                <a:lnTo>
                  <a:pt x="0" y="809685"/>
                </a:lnTo>
                <a:lnTo>
                  <a:pt x="630082" y="809685"/>
                </a:lnTo>
                <a:lnTo>
                  <a:pt x="63008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6" name="Google Shape;406;p9"/>
          <p:cNvGrpSpPr/>
          <p:nvPr/>
        </p:nvGrpSpPr>
        <p:grpSpPr>
          <a:xfrm>
            <a:off x="1641115" y="2586329"/>
            <a:ext cx="14943406" cy="1693413"/>
            <a:chOff x="0" y="-47625"/>
            <a:chExt cx="3935712" cy="446002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3935712" cy="398377"/>
            </a:xfrm>
            <a:custGeom>
              <a:avLst/>
              <a:gdLst/>
              <a:ahLst/>
              <a:cxnLst/>
              <a:rect l="l" t="t" r="r" b="b"/>
              <a:pathLst>
                <a:path w="3935712" h="398377" extrusionOk="0">
                  <a:moveTo>
                    <a:pt x="9844" y="0"/>
                  </a:moveTo>
                  <a:lnTo>
                    <a:pt x="3925868" y="0"/>
                  </a:lnTo>
                  <a:cubicBezTo>
                    <a:pt x="3931305" y="0"/>
                    <a:pt x="3935712" y="4407"/>
                    <a:pt x="3935712" y="9844"/>
                  </a:cubicBezTo>
                  <a:lnTo>
                    <a:pt x="3935712" y="388533"/>
                  </a:lnTo>
                  <a:cubicBezTo>
                    <a:pt x="3935712" y="393970"/>
                    <a:pt x="3931305" y="398377"/>
                    <a:pt x="3925868" y="398377"/>
                  </a:cubicBezTo>
                  <a:lnTo>
                    <a:pt x="9844" y="398377"/>
                  </a:lnTo>
                  <a:cubicBezTo>
                    <a:pt x="4407" y="398377"/>
                    <a:pt x="0" y="393970"/>
                    <a:pt x="0" y="388533"/>
                  </a:cubicBezTo>
                  <a:lnTo>
                    <a:pt x="0" y="9844"/>
                  </a:lnTo>
                  <a:cubicBezTo>
                    <a:pt x="0" y="4407"/>
                    <a:pt x="4407" y="0"/>
                    <a:pt x="9844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0" y="-47625"/>
              <a:ext cx="3935712" cy="446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p9"/>
          <p:cNvCxnSpPr/>
          <p:nvPr/>
        </p:nvCxnSpPr>
        <p:spPr>
          <a:xfrm>
            <a:off x="6027554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/>
          <p:nvPr/>
        </p:nvCxnSpPr>
        <p:spPr>
          <a:xfrm>
            <a:off x="12517271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9"/>
          <p:cNvSpPr/>
          <p:nvPr/>
        </p:nvSpPr>
        <p:spPr>
          <a:xfrm>
            <a:off x="2228915" y="4539612"/>
            <a:ext cx="1201255" cy="1754724"/>
          </a:xfrm>
          <a:custGeom>
            <a:avLst/>
            <a:gdLst/>
            <a:ahLst/>
            <a:cxnLst/>
            <a:rect l="l" t="t" r="r" b="b"/>
            <a:pathLst>
              <a:path w="1201255" h="1754724" extrusionOk="0">
                <a:moveTo>
                  <a:pt x="0" y="0"/>
                </a:moveTo>
                <a:lnTo>
                  <a:pt x="1201255" y="0"/>
                </a:lnTo>
                <a:lnTo>
                  <a:pt x="1201255" y="1754724"/>
                </a:lnTo>
                <a:lnTo>
                  <a:pt x="0" y="17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9"/>
          <p:cNvSpPr/>
          <p:nvPr/>
        </p:nvSpPr>
        <p:spPr>
          <a:xfrm>
            <a:off x="8083172" y="4746423"/>
            <a:ext cx="1970671" cy="1399177"/>
          </a:xfrm>
          <a:custGeom>
            <a:avLst/>
            <a:gdLst/>
            <a:ahLst/>
            <a:cxnLst/>
            <a:rect l="l" t="t" r="r" b="b"/>
            <a:pathLst>
              <a:path w="1970671" h="1399177" extrusionOk="0">
                <a:moveTo>
                  <a:pt x="0" y="0"/>
                </a:moveTo>
                <a:lnTo>
                  <a:pt x="1970671" y="0"/>
                </a:lnTo>
                <a:lnTo>
                  <a:pt x="1970671" y="1399177"/>
                </a:lnTo>
                <a:lnTo>
                  <a:pt x="0" y="1399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9"/>
          <p:cNvSpPr/>
          <p:nvPr/>
        </p:nvSpPr>
        <p:spPr>
          <a:xfrm>
            <a:off x="14670168" y="4693194"/>
            <a:ext cx="1505635" cy="1505635"/>
          </a:xfrm>
          <a:custGeom>
            <a:avLst/>
            <a:gdLst/>
            <a:ahLst/>
            <a:cxnLst/>
            <a:rect l="l" t="t" r="r" b="b"/>
            <a:pathLst>
              <a:path w="1505635" h="1505635" extrusionOk="0">
                <a:moveTo>
                  <a:pt x="0" y="0"/>
                </a:moveTo>
                <a:lnTo>
                  <a:pt x="1505635" y="0"/>
                </a:lnTo>
                <a:lnTo>
                  <a:pt x="1505635" y="1505635"/>
                </a:lnTo>
                <a:lnTo>
                  <a:pt x="0" y="1505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9"/>
          <p:cNvSpPr txBox="1"/>
          <p:nvPr/>
        </p:nvSpPr>
        <p:spPr>
          <a:xfrm>
            <a:off x="8994595" y="9649968"/>
            <a:ext cx="298810" cy="94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519167" y="1281986"/>
            <a:ext cx="680362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BÀI TẬP VẬN DỤNG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806963" y="2879447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NỘI DUNG BÀI TẬP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4130628" y="3447248"/>
            <a:ext cx="1041417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yêu cầu của bài tập theo nội dung đã học.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298790" y="6503886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YÊU CẦU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1028700" y="7297834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Trình bày yêu cầu 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cụ thể của bài tập.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6496307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HƯỚNG DẪN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7226217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Hướng dẫn cách thực hiện hoặc gợi ý.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12871370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THỜI GIAN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13601279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Thời gian nộp bài /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thực hiện.</a:t>
            </a:r>
            <a:endParaRPr/>
          </a:p>
        </p:txBody>
      </p:sp>
      <p:grpSp>
        <p:nvGrpSpPr>
          <p:cNvPr id="425" name="Google Shape;425;p9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27" name="Google Shape;427;p9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1343913" y="98970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KẾT NỘI DUNG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nhất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hai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ba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tư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Khái niệm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Đặc điểm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Quy trình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Ứng dụng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73" name="Google Shape;473;p1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7" name="Google Shape;477;p1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8" name="Google Shape;478;p11"/>
          <p:cNvSpPr/>
          <p:nvPr/>
        </p:nvSpPr>
        <p:spPr>
          <a:xfrm>
            <a:off x="1028700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9" name="Google Shape;479;p11"/>
          <p:cNvSpPr/>
          <p:nvPr/>
        </p:nvSpPr>
        <p:spPr>
          <a:xfrm>
            <a:off x="7095005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0" name="Google Shape;480;p11"/>
          <p:cNvSpPr txBox="1"/>
          <p:nvPr/>
        </p:nvSpPr>
        <p:spPr>
          <a:xfrm>
            <a:off x="1491585" y="109647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2426917" y="3217794"/>
            <a:ext cx="13434166" cy="120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CẢM ƠN ANH/CHỊ ĐÃ THEO DÕI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3318670" y="4484320"/>
            <a:ext cx="1135185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D400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3468075" y="5432357"/>
            <a:ext cx="11351851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2162938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fel@vlute.edu.vn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386332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" name="Google Shape;84;p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5400000">
            <a:off x="17110809" y="8144837"/>
            <a:ext cx="586784" cy="1553028"/>
            <a:chOff x="0" y="-47625"/>
            <a:chExt cx="103692" cy="27443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03692" cy="226814"/>
            </a:xfrm>
            <a:custGeom>
              <a:avLst/>
              <a:gdLst/>
              <a:ahLst/>
              <a:cxnLst/>
              <a:rect l="l" t="t" r="r" b="b"/>
              <a:pathLst>
                <a:path w="103692" h="226814" extrusionOk="0">
                  <a:moveTo>
                    <a:pt x="51846" y="0"/>
                  </a:moveTo>
                  <a:lnTo>
                    <a:pt x="51846" y="0"/>
                  </a:lnTo>
                  <a:cubicBezTo>
                    <a:pt x="80480" y="0"/>
                    <a:pt x="103692" y="23212"/>
                    <a:pt x="103692" y="51846"/>
                  </a:cubicBezTo>
                  <a:lnTo>
                    <a:pt x="103692" y="174968"/>
                  </a:lnTo>
                  <a:cubicBezTo>
                    <a:pt x="103692" y="188718"/>
                    <a:pt x="98229" y="201906"/>
                    <a:pt x="88507" y="211629"/>
                  </a:cubicBezTo>
                  <a:cubicBezTo>
                    <a:pt x="78784" y="221352"/>
                    <a:pt x="65596" y="226814"/>
                    <a:pt x="51846" y="226814"/>
                  </a:cubicBezTo>
                  <a:lnTo>
                    <a:pt x="51846" y="226814"/>
                  </a:lnTo>
                  <a:cubicBezTo>
                    <a:pt x="38096" y="226814"/>
                    <a:pt x="24908" y="221352"/>
                    <a:pt x="15185" y="211629"/>
                  </a:cubicBezTo>
                  <a:cubicBezTo>
                    <a:pt x="5462" y="201906"/>
                    <a:pt x="0" y="188718"/>
                    <a:pt x="0" y="174968"/>
                  </a:cubicBezTo>
                  <a:lnTo>
                    <a:pt x="0" y="51846"/>
                  </a:lnTo>
                  <a:cubicBezTo>
                    <a:pt x="0" y="38096"/>
                    <a:pt x="5462" y="24908"/>
                    <a:pt x="15185" y="15185"/>
                  </a:cubicBezTo>
                  <a:cubicBezTo>
                    <a:pt x="24908" y="5462"/>
                    <a:pt x="38096" y="0"/>
                    <a:pt x="51846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03692" cy="274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7093636" y="8765286"/>
            <a:ext cx="636457" cy="312129"/>
          </a:xfrm>
          <a:custGeom>
            <a:avLst/>
            <a:gdLst/>
            <a:ahLst/>
            <a:cxnLst/>
            <a:rect l="l" t="t" r="r" b="b"/>
            <a:pathLst>
              <a:path w="636457" h="312129" extrusionOk="0">
                <a:moveTo>
                  <a:pt x="0" y="0"/>
                </a:moveTo>
                <a:lnTo>
                  <a:pt x="636457" y="0"/>
                </a:lnTo>
                <a:lnTo>
                  <a:pt x="636457" y="312129"/>
                </a:lnTo>
                <a:lnTo>
                  <a:pt x="0" y="31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5486400" y="5143500"/>
            <a:ext cx="7315200" cy="185928"/>
          </a:xfrm>
          <a:custGeom>
            <a:avLst/>
            <a:gdLst/>
            <a:ahLst/>
            <a:cxnLst/>
            <a:rect l="l" t="t" r="r" b="b"/>
            <a:pathLst>
              <a:path w="7315200" h="185928" extrusionOk="0">
                <a:moveTo>
                  <a:pt x="0" y="0"/>
                </a:moveTo>
                <a:lnTo>
                  <a:pt x="7315200" y="0"/>
                </a:lnTo>
                <a:lnTo>
                  <a:pt x="7315200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167947" y="7023032"/>
            <a:ext cx="584911" cy="466467"/>
          </a:xfrm>
          <a:custGeom>
            <a:avLst/>
            <a:gdLst/>
            <a:ahLst/>
            <a:cxnLst/>
            <a:rect l="l" t="t" r="r" b="b"/>
            <a:pathLst>
              <a:path w="584911" h="466467" extrusionOk="0">
                <a:moveTo>
                  <a:pt x="0" y="0"/>
                </a:moveTo>
                <a:lnTo>
                  <a:pt x="584912" y="0"/>
                </a:lnTo>
                <a:lnTo>
                  <a:pt x="584912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167947" y="7951728"/>
            <a:ext cx="561989" cy="425004"/>
          </a:xfrm>
          <a:custGeom>
            <a:avLst/>
            <a:gdLst/>
            <a:ahLst/>
            <a:cxnLst/>
            <a:rect l="l" t="t" r="r" b="b"/>
            <a:pathLst>
              <a:path w="561989" h="425004" extrusionOk="0">
                <a:moveTo>
                  <a:pt x="0" y="0"/>
                </a:moveTo>
                <a:lnTo>
                  <a:pt x="561990" y="0"/>
                </a:lnTo>
                <a:lnTo>
                  <a:pt x="561990" y="425005"/>
                </a:lnTo>
                <a:lnTo>
                  <a:pt x="0" y="425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253735" y="8706108"/>
            <a:ext cx="356164" cy="552192"/>
          </a:xfrm>
          <a:custGeom>
            <a:avLst/>
            <a:gdLst/>
            <a:ahLst/>
            <a:cxnLst/>
            <a:rect l="l" t="t" r="r" b="b"/>
            <a:pathLst>
              <a:path w="356164" h="552192" extrusionOk="0">
                <a:moveTo>
                  <a:pt x="0" y="0"/>
                </a:moveTo>
                <a:lnTo>
                  <a:pt x="356164" y="0"/>
                </a:lnTo>
                <a:lnTo>
                  <a:pt x="356164" y="552192"/>
                </a:lnTo>
                <a:lnTo>
                  <a:pt x="0" y="552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1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3868399" y="6183888"/>
            <a:ext cx="3691585" cy="3379212"/>
          </a:xfrm>
          <a:custGeom>
            <a:avLst/>
            <a:gdLst/>
            <a:ahLst/>
            <a:cxnLst/>
            <a:rect l="l" t="t" r="r" b="b"/>
            <a:pathLst>
              <a:path w="5247142" h="5122522" extrusionOk="0">
                <a:moveTo>
                  <a:pt x="0" y="0"/>
                </a:moveTo>
                <a:lnTo>
                  <a:pt x="5247142" y="0"/>
                </a:lnTo>
                <a:lnTo>
                  <a:pt x="5247142" y="5122522"/>
                </a:lnTo>
                <a:lnTo>
                  <a:pt x="0" y="5122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6" name="Google Shape;106;p1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864602" y="2487301"/>
            <a:ext cx="147630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 smtClean="0">
                <a:solidFill>
                  <a:srgbClr val="FFFFFF"/>
                </a:solidFill>
                <a:latin typeface="+mj-lt"/>
                <a:ea typeface="Roboto"/>
                <a:sym typeface="Roboto"/>
              </a:rPr>
              <a:t>KỸ NĂNG GIAO TIẾP VÀ SOẠN THẢO VĂN BẢN</a:t>
            </a:r>
            <a:endParaRPr dirty="0">
              <a:latin typeface="+mj-lt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250604" y="3848100"/>
            <a:ext cx="1135185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BÀI 2 (THỰC HÀNH): SOẠN THẢO VĂN BẢN HÀNH CHÍNH</a:t>
            </a:r>
            <a:endParaRPr dirty="0"/>
          </a:p>
        </p:txBody>
      </p:sp>
      <p:sp>
        <p:nvSpPr>
          <p:cNvPr id="112" name="Google Shape;112;p1"/>
          <p:cNvSpPr txBox="1"/>
          <p:nvPr/>
        </p:nvSpPr>
        <p:spPr>
          <a:xfrm>
            <a:off x="1990853" y="7039233"/>
            <a:ext cx="905876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môn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Kinh</a:t>
            </a:r>
            <a:r>
              <a:rPr lang="en-US" sz="27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tế</a:t>
            </a:r>
            <a:endParaRPr dirty="0"/>
          </a:p>
        </p:txBody>
      </p:sp>
      <p:sp>
        <p:nvSpPr>
          <p:cNvPr id="113" name="Google Shape;113;p1"/>
          <p:cNvSpPr txBox="1"/>
          <p:nvPr/>
        </p:nvSpPr>
        <p:spPr>
          <a:xfrm>
            <a:off x="1990853" y="7894578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Khoa: Kinh tế - Luật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1990853" y="8749923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994595" y="96052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12388" y="9702991"/>
            <a:ext cx="9058764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-34274" y="-34151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4" name="Google Shape;124;p2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962400" y="1044402"/>
            <a:ext cx="10820400" cy="1457539"/>
            <a:chOff x="0" y="-47625"/>
            <a:chExt cx="2140304" cy="38387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140304" cy="336254"/>
            </a:xfrm>
            <a:custGeom>
              <a:avLst/>
              <a:gdLst/>
              <a:ahLst/>
              <a:cxnLst/>
              <a:rect l="l" t="t" r="r" b="b"/>
              <a:pathLst>
                <a:path w="2140304" h="336254" extrusionOk="0">
                  <a:moveTo>
                    <a:pt x="16196" y="0"/>
                  </a:moveTo>
                  <a:lnTo>
                    <a:pt x="2124108" y="0"/>
                  </a:lnTo>
                  <a:cubicBezTo>
                    <a:pt x="2128403" y="0"/>
                    <a:pt x="2132523" y="1706"/>
                    <a:pt x="2135560" y="4744"/>
                  </a:cubicBezTo>
                  <a:cubicBezTo>
                    <a:pt x="2138597" y="7781"/>
                    <a:pt x="2140304" y="11900"/>
                    <a:pt x="2140304" y="16196"/>
                  </a:cubicBezTo>
                  <a:lnTo>
                    <a:pt x="2140304" y="320058"/>
                  </a:lnTo>
                  <a:cubicBezTo>
                    <a:pt x="2140304" y="324353"/>
                    <a:pt x="2138597" y="328473"/>
                    <a:pt x="2135560" y="331510"/>
                  </a:cubicBezTo>
                  <a:cubicBezTo>
                    <a:pt x="2132523" y="334547"/>
                    <a:pt x="2128403" y="336254"/>
                    <a:pt x="2124108" y="336254"/>
                  </a:cubicBezTo>
                  <a:lnTo>
                    <a:pt x="16196" y="336254"/>
                  </a:lnTo>
                  <a:cubicBezTo>
                    <a:pt x="7251" y="336254"/>
                    <a:pt x="0" y="329003"/>
                    <a:pt x="0" y="320058"/>
                  </a:cubicBezTo>
                  <a:lnTo>
                    <a:pt x="0" y="16196"/>
                  </a:lnTo>
                  <a:cubicBezTo>
                    <a:pt x="0" y="11900"/>
                    <a:pt x="1706" y="7781"/>
                    <a:pt x="4744" y="4744"/>
                  </a:cubicBezTo>
                  <a:cubicBezTo>
                    <a:pt x="7781" y="1706"/>
                    <a:pt x="11900" y="0"/>
                    <a:pt x="16196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2140304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4326519" y="1394670"/>
            <a:ext cx="904060" cy="857727"/>
          </a:xfrm>
          <a:custGeom>
            <a:avLst/>
            <a:gdLst/>
            <a:ahLst/>
            <a:cxnLst/>
            <a:rect l="l" t="t" r="r" b="b"/>
            <a:pathLst>
              <a:path w="904060" h="857727" extrusionOk="0">
                <a:moveTo>
                  <a:pt x="0" y="0"/>
                </a:moveTo>
                <a:lnTo>
                  <a:pt x="904060" y="0"/>
                </a:lnTo>
                <a:lnTo>
                  <a:pt x="904060" y="857727"/>
                </a:lnTo>
                <a:lnTo>
                  <a:pt x="0" y="85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603725" y="4462563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2"/>
          <p:cNvCxnSpPr/>
          <p:nvPr/>
        </p:nvCxnSpPr>
        <p:spPr>
          <a:xfrm>
            <a:off x="5897880" y="27813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"/>
          <p:cNvCxnSpPr/>
          <p:nvPr/>
        </p:nvCxnSpPr>
        <p:spPr>
          <a:xfrm>
            <a:off x="9144000" y="4223917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/>
          <p:nvPr/>
        </p:nvSpPr>
        <p:spPr>
          <a:xfrm>
            <a:off x="1603725" y="5434798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603725" y="640663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410200" y="1444484"/>
            <a:ext cx="990600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TIÊU BÀI 2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2506246" y="44948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Nắm bố cục và thể thức chuẩn của từng loại văn bản hành chính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2506246" y="5473993"/>
            <a:ext cx="540169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biệt được mục đích sử dụng của Quyết định, Tờ trình, Công văn, Biên bản, Báo cáo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506246" y="644582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thành thạo theo mẫu chuẩn của Nghị định 30/2020/NĐ-CP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1603725" y="737846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2506246" y="7424996"/>
            <a:ext cx="356173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Tự kiểm tra, chỉnh sửa văn bản theo phản hồi của giảng viên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10043901" y="4060809"/>
            <a:ext cx="7120190" cy="4930732"/>
          </a:xfrm>
          <a:custGeom>
            <a:avLst/>
            <a:gdLst/>
            <a:ahLst/>
            <a:cxnLst/>
            <a:rect l="l" t="t" r="r" b="b"/>
            <a:pathLst>
              <a:path w="7120190" h="4930732" extrusionOk="0">
                <a:moveTo>
                  <a:pt x="0" y="0"/>
                </a:moveTo>
                <a:lnTo>
                  <a:pt x="7120190" y="0"/>
                </a:lnTo>
                <a:lnTo>
                  <a:pt x="7120190" y="4930732"/>
                </a:lnTo>
                <a:lnTo>
                  <a:pt x="0" y="4930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8" name="Google Shape;148;p2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9209" y="0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8" name="Google Shape;158;p3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5" name="Google Shape;165;p3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883202" y="1255649"/>
            <a:ext cx="11280598" cy="1457539"/>
            <a:chOff x="-137192" y="-47625"/>
            <a:chExt cx="2467893" cy="383879"/>
          </a:xfrm>
        </p:grpSpPr>
        <p:sp>
          <p:nvSpPr>
            <p:cNvPr id="169" name="Google Shape;169;p3"/>
            <p:cNvSpPr/>
            <p:nvPr/>
          </p:nvSpPr>
          <p:spPr>
            <a:xfrm>
              <a:off x="-137192" y="0"/>
              <a:ext cx="2467893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3"/>
          <p:cNvCxnSpPr/>
          <p:nvPr/>
        </p:nvCxnSpPr>
        <p:spPr>
          <a:xfrm>
            <a:off x="6146416" y="29337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"/>
          <p:cNvSpPr/>
          <p:nvPr/>
        </p:nvSpPr>
        <p:spPr>
          <a:xfrm>
            <a:off x="4171991" y="1658458"/>
            <a:ext cx="1009452" cy="716711"/>
          </a:xfrm>
          <a:custGeom>
            <a:avLst/>
            <a:gdLst/>
            <a:ahLst/>
            <a:cxnLst/>
            <a:rect l="l" t="t" r="r" b="b"/>
            <a:pathLst>
              <a:path w="1009452" h="716711" extrusionOk="0">
                <a:moveTo>
                  <a:pt x="0" y="0"/>
                </a:moveTo>
                <a:lnTo>
                  <a:pt x="1009452" y="0"/>
                </a:lnTo>
                <a:lnTo>
                  <a:pt x="1009452" y="716711"/>
                </a:lnTo>
                <a:lnTo>
                  <a:pt x="0" y="716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3" name="Google Shape;173;p3"/>
          <p:cNvGrpSpPr/>
          <p:nvPr/>
        </p:nvGrpSpPr>
        <p:grpSpPr>
          <a:xfrm>
            <a:off x="1451168" y="3873784"/>
            <a:ext cx="688429" cy="688429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75996" y="4982975"/>
            <a:ext cx="688429" cy="688429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1522086" y="6134690"/>
            <a:ext cx="688429" cy="688429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522086" y="7289845"/>
            <a:ext cx="688429" cy="688429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522086" y="8483099"/>
            <a:ext cx="688429" cy="688429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0043901" y="4157032"/>
            <a:ext cx="7554796" cy="5014496"/>
          </a:xfrm>
          <a:custGeom>
            <a:avLst/>
            <a:gdLst/>
            <a:ahLst/>
            <a:cxnLst/>
            <a:rect l="l" t="t" r="r" b="b"/>
            <a:pathLst>
              <a:path w="7554796" h="5014496" extrusionOk="0">
                <a:moveTo>
                  <a:pt x="0" y="0"/>
                </a:moveTo>
                <a:lnTo>
                  <a:pt x="7554795" y="0"/>
                </a:lnTo>
                <a:lnTo>
                  <a:pt x="7554795" y="5014496"/>
                </a:lnTo>
                <a:lnTo>
                  <a:pt x="0" y="501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3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5519751" y="1619706"/>
            <a:ext cx="1045376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2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07633" y="3885650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532103" y="3992766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Quyết định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1632461" y="499484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678551" y="6146556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678551" y="730171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678551" y="8494965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2532103" y="504993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Tờ trình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2552154" y="617410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các loại Công văn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2532103" y="73292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Biên bản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2532103" y="845320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Báo cáo</a:t>
            </a:r>
            <a:endParaRPr/>
          </a:p>
        </p:txBody>
      </p:sp>
      <p:grpSp>
        <p:nvGrpSpPr>
          <p:cNvPr id="202" name="Google Shape;202;p3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04" name="Google Shape;204;p3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2.1. SOẠN THẢO QUYẾT ĐỊNH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Dùng để ban hành, bổ nhiệm, khen thưởng, xử lý… (văn bản cá biệt)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Bố cục: phần Căn cứ – phần Quyết định – phần Điều khoản thi hành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Các điều được đánh số: Điều 1, Điều 2, … rõ ràng, ngắn gọn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Mẫu: Quyết định bổ nhiệm / khen thưởng theo NĐ 30/2020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đích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Bố cục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Trình bày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Mẫu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2.2. SOẠN THẢO TỜ TRÌNH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Dùng để đề xuất cấp trên xem xét, phê duyệt một nội dung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Bố cục: lý do/sự cần thiết – nội dung đề xuất – kiến nghị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Lập luận chặt chẽ, có số liệu, nêu rõ phương án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Mẫu: Tờ trình xin kinh phí / phê duyệt kế hoạch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đích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Bố cục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Lập luận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Mẫu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2.3. SOẠN THẢO CÁC LOẠI CÔNG VĂN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Công văn đề nghị, trả lời, đôn đốc, mời họp, hướng dẫn…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Đặc trưng: không có tên loại, dùng số/ký hiệu và trích yếu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Văn phong lịch sự, mỗi công văn một chủ đề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Mẫu: Công văn mời họp / đề nghị phối hợp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Phân loại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Đặc trưng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Văn phong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Mẫu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2.4. SOẠN THẢO BIÊN BẢN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Ghi nhận trung thực, khách quan một sự việc đang/đã diễn ra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Thành phần: thời gian, địa điểm, thành phần tham dự, diễn biến, kết luận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Có chữ ký của các bên liên quan để xác nhận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Mẫu: Biên bản cuộc họp / bàn giao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đích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Thành phần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Xác nhận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Mẫu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2.5. SOẠN THẢO BÁO CÁO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Tổng hợp, đánh giá tình hình, kết quả thực hiện công việc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Bố cục: đặt vấn đề – kết quả/nội dung – đánh giá, kiến nghị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Số liệu trung thực, có so sánh, bám mục tiêu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Mẫu: Báo cáo tổng kết / báo cáo định kỳ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đích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Bố cục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Số liệu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Mẫu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8" name="Google Shape;308;p7"/>
          <p:cNvSpPr/>
          <p:nvPr/>
        </p:nvSpPr>
        <p:spPr>
          <a:xfrm>
            <a:off x="4770773" y="2007099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2795670" y="1093906"/>
            <a:ext cx="12995470" cy="1457539"/>
            <a:chOff x="0" y="-47625"/>
            <a:chExt cx="3422675" cy="38387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422675" cy="336254"/>
            </a:xfrm>
            <a:custGeom>
              <a:avLst/>
              <a:gdLst/>
              <a:ahLst/>
              <a:cxnLst/>
              <a:rect l="l" t="t" r="r" b="b"/>
              <a:pathLst>
                <a:path w="3422675" h="336254" extrusionOk="0">
                  <a:moveTo>
                    <a:pt x="10128" y="0"/>
                  </a:moveTo>
                  <a:lnTo>
                    <a:pt x="3412548" y="0"/>
                  </a:lnTo>
                  <a:cubicBezTo>
                    <a:pt x="3418141" y="0"/>
                    <a:pt x="3422675" y="4534"/>
                    <a:pt x="3422675" y="10128"/>
                  </a:cubicBezTo>
                  <a:lnTo>
                    <a:pt x="3422675" y="326126"/>
                  </a:lnTo>
                  <a:cubicBezTo>
                    <a:pt x="3422675" y="328812"/>
                    <a:pt x="3421608" y="331388"/>
                    <a:pt x="3419709" y="333287"/>
                  </a:cubicBezTo>
                  <a:cubicBezTo>
                    <a:pt x="3417810" y="335187"/>
                    <a:pt x="3415234" y="336254"/>
                    <a:pt x="3412548" y="336254"/>
                  </a:cubicBezTo>
                  <a:lnTo>
                    <a:pt x="10128" y="336254"/>
                  </a:lnTo>
                  <a:cubicBezTo>
                    <a:pt x="4534" y="336254"/>
                    <a:pt x="0" y="331719"/>
                    <a:pt x="0" y="326126"/>
                  </a:cubicBezTo>
                  <a:lnTo>
                    <a:pt x="0" y="10128"/>
                  </a:lnTo>
                  <a:cubicBezTo>
                    <a:pt x="0" y="4534"/>
                    <a:pt x="4534" y="0"/>
                    <a:pt x="10128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47625"/>
              <a:ext cx="3422675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537593" y="3162569"/>
            <a:ext cx="7295981" cy="3500808"/>
            <a:chOff x="0" y="-47625"/>
            <a:chExt cx="1921575" cy="922024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921575" cy="874399"/>
            </a:xfrm>
            <a:custGeom>
              <a:avLst/>
              <a:gdLst/>
              <a:ahLst/>
              <a:cxnLst/>
              <a:rect l="l" t="t" r="r" b="b"/>
              <a:pathLst>
                <a:path w="1921575" h="874399" extrusionOk="0">
                  <a:moveTo>
                    <a:pt x="20161" y="0"/>
                  </a:moveTo>
                  <a:lnTo>
                    <a:pt x="1901414" y="0"/>
                  </a:lnTo>
                  <a:cubicBezTo>
                    <a:pt x="1912549" y="0"/>
                    <a:pt x="1921575" y="9027"/>
                    <a:pt x="1921575" y="20161"/>
                  </a:cubicBezTo>
                  <a:lnTo>
                    <a:pt x="1921575" y="854237"/>
                  </a:lnTo>
                  <a:cubicBezTo>
                    <a:pt x="1921575" y="865372"/>
                    <a:pt x="1912549" y="874399"/>
                    <a:pt x="1901414" y="874399"/>
                  </a:cubicBezTo>
                  <a:lnTo>
                    <a:pt x="20161" y="874399"/>
                  </a:lnTo>
                  <a:cubicBezTo>
                    <a:pt x="9027" y="874399"/>
                    <a:pt x="0" y="865372"/>
                    <a:pt x="0" y="854237"/>
                  </a:cubicBezTo>
                  <a:lnTo>
                    <a:pt x="0" y="20161"/>
                  </a:lnTo>
                  <a:cubicBezTo>
                    <a:pt x="0" y="9027"/>
                    <a:pt x="9027" y="0"/>
                    <a:pt x="20161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47625"/>
              <a:ext cx="1921575" cy="922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7"/>
          <p:cNvGrpSpPr/>
          <p:nvPr/>
        </p:nvGrpSpPr>
        <p:grpSpPr>
          <a:xfrm>
            <a:off x="6528716" y="6939518"/>
            <a:ext cx="5008011" cy="1059797"/>
            <a:chOff x="0" y="-76200"/>
            <a:chExt cx="1949025" cy="412454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1949025" cy="336254"/>
            </a:xfrm>
            <a:custGeom>
              <a:avLst/>
              <a:gdLst/>
              <a:ahLst/>
              <a:cxnLst/>
              <a:rect l="l" t="t" r="r" b="b"/>
              <a:pathLst>
                <a:path w="1949025" h="336254" extrusionOk="0">
                  <a:moveTo>
                    <a:pt x="26280" y="0"/>
                  </a:moveTo>
                  <a:lnTo>
                    <a:pt x="1922745" y="0"/>
                  </a:lnTo>
                  <a:cubicBezTo>
                    <a:pt x="1929715" y="0"/>
                    <a:pt x="1936399" y="2769"/>
                    <a:pt x="1941328" y="7697"/>
                  </a:cubicBezTo>
                  <a:cubicBezTo>
                    <a:pt x="1946256" y="12626"/>
                    <a:pt x="1949025" y="19310"/>
                    <a:pt x="1949025" y="26280"/>
                  </a:cubicBezTo>
                  <a:lnTo>
                    <a:pt x="1949025" y="309973"/>
                  </a:lnTo>
                  <a:cubicBezTo>
                    <a:pt x="1949025" y="316943"/>
                    <a:pt x="1946256" y="323628"/>
                    <a:pt x="1941328" y="328556"/>
                  </a:cubicBezTo>
                  <a:cubicBezTo>
                    <a:pt x="1936399" y="333485"/>
                    <a:pt x="1929715" y="336254"/>
                    <a:pt x="1922745" y="336254"/>
                  </a:cubicBezTo>
                  <a:lnTo>
                    <a:pt x="26280" y="336254"/>
                  </a:lnTo>
                  <a:cubicBezTo>
                    <a:pt x="19310" y="336254"/>
                    <a:pt x="12626" y="333485"/>
                    <a:pt x="7697" y="328556"/>
                  </a:cubicBezTo>
                  <a:cubicBezTo>
                    <a:pt x="2769" y="323628"/>
                    <a:pt x="0" y="316943"/>
                    <a:pt x="0" y="309973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0E514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0" y="-76200"/>
              <a:ext cx="1949025" cy="41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7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1201080" y="8654813"/>
            <a:ext cx="547366" cy="547366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A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7410614" y="8609730"/>
            <a:ext cx="547366" cy="547366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7"/>
          <p:cNvGrpSpPr/>
          <p:nvPr/>
        </p:nvGrpSpPr>
        <p:grpSpPr>
          <a:xfrm>
            <a:off x="13620147" y="8654813"/>
            <a:ext cx="547366" cy="547366"/>
            <a:chOff x="0" y="0"/>
            <a:chExt cx="812800" cy="812800"/>
          </a:xfrm>
        </p:grpSpPr>
        <p:sp>
          <p:nvSpPr>
            <p:cNvPr id="334" name="Google Shape;33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7"/>
          <p:cNvSpPr/>
          <p:nvPr/>
        </p:nvSpPr>
        <p:spPr>
          <a:xfrm>
            <a:off x="9217852" y="2762764"/>
            <a:ext cx="7965895" cy="3524909"/>
          </a:xfrm>
          <a:custGeom>
            <a:avLst/>
            <a:gdLst/>
            <a:ahLst/>
            <a:cxnLst/>
            <a:rect l="l" t="t" r="r" b="b"/>
            <a:pathLst>
              <a:path w="7965895" h="3524909" extrusionOk="0">
                <a:moveTo>
                  <a:pt x="0" y="0"/>
                </a:moveTo>
                <a:lnTo>
                  <a:pt x="7965895" y="0"/>
                </a:lnTo>
                <a:lnTo>
                  <a:pt x="7965895" y="3524908"/>
                </a:lnTo>
                <a:lnTo>
                  <a:pt x="0" y="3524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7"/>
          <p:cNvSpPr txBox="1"/>
          <p:nvPr/>
        </p:nvSpPr>
        <p:spPr>
          <a:xfrm>
            <a:off x="3510248" y="1534946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CASE STUDY/ TÌNH HUỐNG THỰC TIỄN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467213" y="3631537"/>
            <a:ext cx="5061503" cy="67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TÌNH HUỐNG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6932449" y="7271377"/>
            <a:ext cx="4604278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CÂU HỎI PHÂN TÍCH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1325485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1929762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Chuỗi văn bản nào cần được soạn theo đúng trình tự?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7535018" y="8622600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8139296" y="8578613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Công văn mời họp và Biên bản khác nhau ở thể thức nào?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3744552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14348829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Báo cáo cần những số liệu gì để thuyết phục?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853193" y="4529777"/>
            <a:ext cx="666478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Phòng Đào tạo cần tổ chức một cuộc họp triển khai kế hoạch học kỳ và lập biên bản, sau đó báo cáo kết quả lên Ban Giám hiệu.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6" name="Google Shape;356;p8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4719313" y="1373538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8" name="Google Shape;358;p8"/>
          <p:cNvGrpSpPr/>
          <p:nvPr/>
        </p:nvGrpSpPr>
        <p:grpSpPr>
          <a:xfrm>
            <a:off x="5143052" y="853975"/>
            <a:ext cx="6784530" cy="1457539"/>
            <a:chOff x="0" y="-47625"/>
            <a:chExt cx="1786872" cy="383879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786872" cy="336254"/>
            </a:xfrm>
            <a:custGeom>
              <a:avLst/>
              <a:gdLst/>
              <a:ahLst/>
              <a:cxnLst/>
              <a:rect l="l" t="t" r="r" b="b"/>
              <a:pathLst>
                <a:path w="1786872" h="336254" extrusionOk="0">
                  <a:moveTo>
                    <a:pt x="19399" y="0"/>
                  </a:moveTo>
                  <a:lnTo>
                    <a:pt x="1767473" y="0"/>
                  </a:lnTo>
                  <a:cubicBezTo>
                    <a:pt x="1772618" y="0"/>
                    <a:pt x="1777552" y="2044"/>
                    <a:pt x="1781190" y="5682"/>
                  </a:cubicBezTo>
                  <a:cubicBezTo>
                    <a:pt x="1784828" y="9320"/>
                    <a:pt x="1786872" y="14254"/>
                    <a:pt x="1786872" y="19399"/>
                  </a:cubicBezTo>
                  <a:lnTo>
                    <a:pt x="1786872" y="316855"/>
                  </a:lnTo>
                  <a:cubicBezTo>
                    <a:pt x="1786872" y="322000"/>
                    <a:pt x="1784828" y="326934"/>
                    <a:pt x="1781190" y="330572"/>
                  </a:cubicBezTo>
                  <a:cubicBezTo>
                    <a:pt x="1777552" y="334210"/>
                    <a:pt x="1772618" y="336254"/>
                    <a:pt x="1767473" y="336254"/>
                  </a:cubicBezTo>
                  <a:lnTo>
                    <a:pt x="19399" y="336254"/>
                  </a:lnTo>
                  <a:cubicBezTo>
                    <a:pt x="14254" y="336254"/>
                    <a:pt x="9320" y="334210"/>
                    <a:pt x="5682" y="330572"/>
                  </a:cubicBezTo>
                  <a:cubicBezTo>
                    <a:pt x="2044" y="326934"/>
                    <a:pt x="0" y="322000"/>
                    <a:pt x="0" y="316855"/>
                  </a:cubicBezTo>
                  <a:lnTo>
                    <a:pt x="0" y="19399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9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0" y="-47625"/>
              <a:ext cx="1786872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5976810" y="1263578"/>
            <a:ext cx="1229504" cy="819157"/>
          </a:xfrm>
          <a:custGeom>
            <a:avLst/>
            <a:gdLst/>
            <a:ahLst/>
            <a:cxnLst/>
            <a:rect l="l" t="t" r="r" b="b"/>
            <a:pathLst>
              <a:path w="1229504" h="819157" extrusionOk="0">
                <a:moveTo>
                  <a:pt x="0" y="0"/>
                </a:moveTo>
                <a:lnTo>
                  <a:pt x="1229504" y="0"/>
                </a:lnTo>
                <a:lnTo>
                  <a:pt x="1229504" y="819158"/>
                </a:lnTo>
                <a:lnTo>
                  <a:pt x="0" y="81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8"/>
          <p:cNvGrpSpPr/>
          <p:nvPr/>
        </p:nvGrpSpPr>
        <p:grpSpPr>
          <a:xfrm>
            <a:off x="1270595" y="3185950"/>
            <a:ext cx="8714765" cy="4885364"/>
            <a:chOff x="0" y="-47625"/>
            <a:chExt cx="2295247" cy="128668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2295247" cy="1239055"/>
            </a:xfrm>
            <a:custGeom>
              <a:avLst/>
              <a:gdLst/>
              <a:ahLst/>
              <a:cxnLst/>
              <a:rect l="l" t="t" r="r" b="b"/>
              <a:pathLst>
                <a:path w="2295247" h="1239055" extrusionOk="0">
                  <a:moveTo>
                    <a:pt x="28428" y="0"/>
                  </a:moveTo>
                  <a:lnTo>
                    <a:pt x="2266819" y="0"/>
                  </a:lnTo>
                  <a:cubicBezTo>
                    <a:pt x="2274358" y="0"/>
                    <a:pt x="2281589" y="2995"/>
                    <a:pt x="2286920" y="8326"/>
                  </a:cubicBezTo>
                  <a:cubicBezTo>
                    <a:pt x="2292252" y="13658"/>
                    <a:pt x="2295247" y="20888"/>
                    <a:pt x="2295247" y="28428"/>
                  </a:cubicBezTo>
                  <a:lnTo>
                    <a:pt x="2295247" y="1210627"/>
                  </a:lnTo>
                  <a:cubicBezTo>
                    <a:pt x="2295247" y="1218167"/>
                    <a:pt x="2292252" y="1225398"/>
                    <a:pt x="2286920" y="1230729"/>
                  </a:cubicBezTo>
                  <a:cubicBezTo>
                    <a:pt x="2281589" y="1236060"/>
                    <a:pt x="2274358" y="1239055"/>
                    <a:pt x="2266819" y="1239055"/>
                  </a:cubicBezTo>
                  <a:lnTo>
                    <a:pt x="28428" y="1239055"/>
                  </a:lnTo>
                  <a:cubicBezTo>
                    <a:pt x="12728" y="1239055"/>
                    <a:pt x="0" y="1226328"/>
                    <a:pt x="0" y="1210627"/>
                  </a:cubicBezTo>
                  <a:lnTo>
                    <a:pt x="0" y="28428"/>
                  </a:lnTo>
                  <a:cubicBezTo>
                    <a:pt x="0" y="20888"/>
                    <a:pt x="2995" y="13658"/>
                    <a:pt x="8326" y="8326"/>
                  </a:cubicBezTo>
                  <a:cubicBezTo>
                    <a:pt x="13658" y="2995"/>
                    <a:pt x="20888" y="0"/>
                    <a:pt x="28428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0" y="-47625"/>
              <a:ext cx="2295247" cy="12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8"/>
          <p:cNvSpPr/>
          <p:nvPr/>
        </p:nvSpPr>
        <p:spPr>
          <a:xfrm>
            <a:off x="10786288" y="6257021"/>
            <a:ext cx="6701236" cy="3291982"/>
          </a:xfrm>
          <a:custGeom>
            <a:avLst/>
            <a:gdLst/>
            <a:ahLst/>
            <a:cxnLst/>
            <a:rect l="l" t="t" r="r" b="b"/>
            <a:pathLst>
              <a:path w="6701236" h="3291982" extrusionOk="0">
                <a:moveTo>
                  <a:pt x="0" y="0"/>
                </a:moveTo>
                <a:lnTo>
                  <a:pt x="6701235" y="0"/>
                </a:lnTo>
                <a:lnTo>
                  <a:pt x="6701235" y="3291982"/>
                </a:lnTo>
                <a:lnTo>
                  <a:pt x="0" y="3291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6" name="Google Shape;366;p8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8" name="Google Shape;368;p8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73" name="Google Shape;373;p8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74" name="Google Shape;374;p8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8"/>
          <p:cNvSpPr/>
          <p:nvPr/>
        </p:nvSpPr>
        <p:spPr>
          <a:xfrm>
            <a:off x="1752859" y="3058400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0" y="0"/>
                </a:moveTo>
                <a:lnTo>
                  <a:pt x="803585" y="0"/>
                </a:lnTo>
                <a:lnTo>
                  <a:pt x="803585" y="616752"/>
                </a:lnTo>
                <a:lnTo>
                  <a:pt x="0" y="61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8"/>
          <p:cNvSpPr txBox="1"/>
          <p:nvPr/>
        </p:nvSpPr>
        <p:spPr>
          <a:xfrm>
            <a:off x="3544847" y="1295015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THẢO LUẬN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554613" y="4200588"/>
            <a:ext cx="8068459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Khi nào dùng Công văn, khi nào phải dùng Quyết định? Cho ví dụ trong thực tế công việc của anh/chị.</a:t>
            </a:r>
            <a:endParaRPr sz="4500" b="1" i="0" u="none" strike="noStrike" cap="none">
              <a:solidFill>
                <a:srgbClr val="0E6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8"/>
          <p:cNvSpPr/>
          <p:nvPr/>
        </p:nvSpPr>
        <p:spPr>
          <a:xfrm rot="10800000">
            <a:off x="8588950" y="7762938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803585" y="616752"/>
                </a:moveTo>
                <a:lnTo>
                  <a:pt x="0" y="616752"/>
                </a:lnTo>
                <a:lnTo>
                  <a:pt x="0" y="0"/>
                </a:lnTo>
                <a:lnTo>
                  <a:pt x="803585" y="0"/>
                </a:lnTo>
                <a:lnTo>
                  <a:pt x="803585" y="61675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1" name="Google Shape;381;p8"/>
          <p:cNvGrpSpPr/>
          <p:nvPr/>
        </p:nvGrpSpPr>
        <p:grpSpPr>
          <a:xfrm>
            <a:off x="11927582" y="2242038"/>
            <a:ext cx="4960970" cy="1433114"/>
            <a:chOff x="0" y="-47625"/>
            <a:chExt cx="1306593" cy="377446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1306593" cy="329821"/>
            </a:xfrm>
            <a:custGeom>
              <a:avLst/>
              <a:gdLst/>
              <a:ahLst/>
              <a:cxnLst/>
              <a:rect l="l" t="t" r="r" b="b"/>
              <a:pathLst>
                <a:path w="1306593" h="329821" extrusionOk="0">
                  <a:moveTo>
                    <a:pt x="29651" y="0"/>
                  </a:moveTo>
                  <a:lnTo>
                    <a:pt x="1276942" y="0"/>
                  </a:lnTo>
                  <a:cubicBezTo>
                    <a:pt x="1284806" y="0"/>
                    <a:pt x="1292348" y="3124"/>
                    <a:pt x="1297908" y="8685"/>
                  </a:cubicBezTo>
                  <a:cubicBezTo>
                    <a:pt x="1303469" y="14245"/>
                    <a:pt x="1306593" y="21787"/>
                    <a:pt x="1306593" y="29651"/>
                  </a:cubicBezTo>
                  <a:lnTo>
                    <a:pt x="1306593" y="300170"/>
                  </a:lnTo>
                  <a:cubicBezTo>
                    <a:pt x="1306593" y="316546"/>
                    <a:pt x="1293318" y="329821"/>
                    <a:pt x="1276942" y="329821"/>
                  </a:cubicBezTo>
                  <a:lnTo>
                    <a:pt x="29651" y="329821"/>
                  </a:lnTo>
                  <a:cubicBezTo>
                    <a:pt x="13275" y="329821"/>
                    <a:pt x="0" y="316546"/>
                    <a:pt x="0" y="300170"/>
                  </a:cubicBezTo>
                  <a:lnTo>
                    <a:pt x="0" y="29651"/>
                  </a:lnTo>
                  <a:cubicBezTo>
                    <a:pt x="0" y="21787"/>
                    <a:pt x="3124" y="14245"/>
                    <a:pt x="8685" y="8685"/>
                  </a:cubicBezTo>
                  <a:cubicBezTo>
                    <a:pt x="14245" y="3124"/>
                    <a:pt x="21787" y="0"/>
                    <a:pt x="2965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 cmpd="sng">
              <a:solidFill>
                <a:srgbClr val="21B52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0" y="-47625"/>
              <a:ext cx="1306593" cy="377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2894929" y="3950306"/>
            <a:ext cx="3145157" cy="2481947"/>
            <a:chOff x="0" y="-47625"/>
            <a:chExt cx="828354" cy="653682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828354" cy="606057"/>
            </a:xfrm>
            <a:custGeom>
              <a:avLst/>
              <a:gdLst/>
              <a:ahLst/>
              <a:cxnLst/>
              <a:rect l="l" t="t" r="r" b="b"/>
              <a:pathLst>
                <a:path w="828354" h="606057" extrusionOk="0">
                  <a:moveTo>
                    <a:pt x="0" y="0"/>
                  </a:moveTo>
                  <a:lnTo>
                    <a:pt x="828354" y="0"/>
                  </a:lnTo>
                  <a:lnTo>
                    <a:pt x="828354" y="606057"/>
                  </a:lnTo>
                  <a:lnTo>
                    <a:pt x="0" y="606057"/>
                  </a:ln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0E6B2D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47625"/>
              <a:ext cx="828354" cy="653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12441115" y="2486900"/>
            <a:ext cx="405278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Quét QR để tham gia thảo luận (nếu có)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537071" y="147781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94" name="Google Shape;394;p9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/>
          <p:nvPr/>
        </p:nvSpPr>
        <p:spPr>
          <a:xfrm>
            <a:off x="33119" y="-2978"/>
            <a:ext cx="1342325" cy="1341654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9"/>
          <p:cNvSpPr/>
          <p:nvPr/>
        </p:nvSpPr>
        <p:spPr>
          <a:xfrm>
            <a:off x="4868717" y="1825115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2" name="Google Shape;402;p9"/>
          <p:cNvGrpSpPr/>
          <p:nvPr/>
        </p:nvGrpSpPr>
        <p:grpSpPr>
          <a:xfrm>
            <a:off x="4934741" y="879891"/>
            <a:ext cx="7921450" cy="1590471"/>
            <a:chOff x="0" y="-47625"/>
            <a:chExt cx="2330700" cy="383879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9"/>
          <p:cNvSpPr/>
          <p:nvPr/>
        </p:nvSpPr>
        <p:spPr>
          <a:xfrm flipH="1">
            <a:off x="5397471" y="1351673"/>
            <a:ext cx="630083" cy="809686"/>
          </a:xfrm>
          <a:custGeom>
            <a:avLst/>
            <a:gdLst/>
            <a:ahLst/>
            <a:cxnLst/>
            <a:rect l="l" t="t" r="r" b="b"/>
            <a:pathLst>
              <a:path w="630083" h="809686" extrusionOk="0">
                <a:moveTo>
                  <a:pt x="630082" y="0"/>
                </a:moveTo>
                <a:lnTo>
                  <a:pt x="0" y="0"/>
                </a:lnTo>
                <a:lnTo>
                  <a:pt x="0" y="809685"/>
                </a:lnTo>
                <a:lnTo>
                  <a:pt x="630082" y="809685"/>
                </a:lnTo>
                <a:lnTo>
                  <a:pt x="63008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6" name="Google Shape;406;p9"/>
          <p:cNvGrpSpPr/>
          <p:nvPr/>
        </p:nvGrpSpPr>
        <p:grpSpPr>
          <a:xfrm>
            <a:off x="1641115" y="2586329"/>
            <a:ext cx="14943406" cy="1693413"/>
            <a:chOff x="0" y="-47625"/>
            <a:chExt cx="3935712" cy="446002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3935712" cy="398377"/>
            </a:xfrm>
            <a:custGeom>
              <a:avLst/>
              <a:gdLst/>
              <a:ahLst/>
              <a:cxnLst/>
              <a:rect l="l" t="t" r="r" b="b"/>
              <a:pathLst>
                <a:path w="3935712" h="398377" extrusionOk="0">
                  <a:moveTo>
                    <a:pt x="9844" y="0"/>
                  </a:moveTo>
                  <a:lnTo>
                    <a:pt x="3925868" y="0"/>
                  </a:lnTo>
                  <a:cubicBezTo>
                    <a:pt x="3931305" y="0"/>
                    <a:pt x="3935712" y="4407"/>
                    <a:pt x="3935712" y="9844"/>
                  </a:cubicBezTo>
                  <a:lnTo>
                    <a:pt x="3935712" y="388533"/>
                  </a:lnTo>
                  <a:cubicBezTo>
                    <a:pt x="3935712" y="393970"/>
                    <a:pt x="3931305" y="398377"/>
                    <a:pt x="3925868" y="398377"/>
                  </a:cubicBezTo>
                  <a:lnTo>
                    <a:pt x="9844" y="398377"/>
                  </a:lnTo>
                  <a:cubicBezTo>
                    <a:pt x="4407" y="398377"/>
                    <a:pt x="0" y="393970"/>
                    <a:pt x="0" y="388533"/>
                  </a:cubicBezTo>
                  <a:lnTo>
                    <a:pt x="0" y="9844"/>
                  </a:lnTo>
                  <a:cubicBezTo>
                    <a:pt x="0" y="4407"/>
                    <a:pt x="4407" y="0"/>
                    <a:pt x="9844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0" y="-47625"/>
              <a:ext cx="3935712" cy="446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p9"/>
          <p:cNvCxnSpPr/>
          <p:nvPr/>
        </p:nvCxnSpPr>
        <p:spPr>
          <a:xfrm>
            <a:off x="6027554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/>
          <p:nvPr/>
        </p:nvCxnSpPr>
        <p:spPr>
          <a:xfrm>
            <a:off x="12517271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9"/>
          <p:cNvSpPr/>
          <p:nvPr/>
        </p:nvSpPr>
        <p:spPr>
          <a:xfrm>
            <a:off x="2228915" y="4539612"/>
            <a:ext cx="1201255" cy="1754724"/>
          </a:xfrm>
          <a:custGeom>
            <a:avLst/>
            <a:gdLst/>
            <a:ahLst/>
            <a:cxnLst/>
            <a:rect l="l" t="t" r="r" b="b"/>
            <a:pathLst>
              <a:path w="1201255" h="1754724" extrusionOk="0">
                <a:moveTo>
                  <a:pt x="0" y="0"/>
                </a:moveTo>
                <a:lnTo>
                  <a:pt x="1201255" y="0"/>
                </a:lnTo>
                <a:lnTo>
                  <a:pt x="1201255" y="1754724"/>
                </a:lnTo>
                <a:lnTo>
                  <a:pt x="0" y="17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9"/>
          <p:cNvSpPr/>
          <p:nvPr/>
        </p:nvSpPr>
        <p:spPr>
          <a:xfrm>
            <a:off x="8083172" y="4746423"/>
            <a:ext cx="1970671" cy="1399177"/>
          </a:xfrm>
          <a:custGeom>
            <a:avLst/>
            <a:gdLst/>
            <a:ahLst/>
            <a:cxnLst/>
            <a:rect l="l" t="t" r="r" b="b"/>
            <a:pathLst>
              <a:path w="1970671" h="1399177" extrusionOk="0">
                <a:moveTo>
                  <a:pt x="0" y="0"/>
                </a:moveTo>
                <a:lnTo>
                  <a:pt x="1970671" y="0"/>
                </a:lnTo>
                <a:lnTo>
                  <a:pt x="1970671" y="1399177"/>
                </a:lnTo>
                <a:lnTo>
                  <a:pt x="0" y="1399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9"/>
          <p:cNvSpPr/>
          <p:nvPr/>
        </p:nvSpPr>
        <p:spPr>
          <a:xfrm>
            <a:off x="14670168" y="4693194"/>
            <a:ext cx="1505635" cy="1505635"/>
          </a:xfrm>
          <a:custGeom>
            <a:avLst/>
            <a:gdLst/>
            <a:ahLst/>
            <a:cxnLst/>
            <a:rect l="l" t="t" r="r" b="b"/>
            <a:pathLst>
              <a:path w="1505635" h="1505635" extrusionOk="0">
                <a:moveTo>
                  <a:pt x="0" y="0"/>
                </a:moveTo>
                <a:lnTo>
                  <a:pt x="1505635" y="0"/>
                </a:lnTo>
                <a:lnTo>
                  <a:pt x="1505635" y="1505635"/>
                </a:lnTo>
                <a:lnTo>
                  <a:pt x="0" y="1505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9"/>
          <p:cNvSpPr txBox="1"/>
          <p:nvPr/>
        </p:nvSpPr>
        <p:spPr>
          <a:xfrm>
            <a:off x="8994595" y="9649968"/>
            <a:ext cx="298810" cy="94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519167" y="1281986"/>
            <a:ext cx="680362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BÀI TẬP VẬN DỤNG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806963" y="2879447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NỘI DUNG BÀI TẬP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4130628" y="3447248"/>
            <a:ext cx="1041417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BÀI TẬP 2: Soạn 01 Quyết định khen thưởng và 01 Công văn mời họp theo tình huống được giao.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298790" y="6503886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YÊU CẦU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1028700" y="7297834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Đúng bố cục từng loại, đủ 9 thành phần thể thức, không sai chính tả – văn phong.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6496307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HƯỚNG DẪN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7226217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Dựa trên mẫu đã giới thiệu; nộp 02 file Word trên E-learning, đặt tên theo mã số học viên.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12871370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THỜI GIAN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13601279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Hoàn thành trong 01 tuần, có thể chỉnh sửa 01 lần theo phản hồi.</a:t>
            </a:r>
            <a:endParaRPr/>
          </a:p>
        </p:txBody>
      </p:sp>
      <p:grpSp>
        <p:nvGrpSpPr>
          <p:cNvPr id="425" name="Google Shape;425;p9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27" name="Google Shape;427;p9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1343913" y="98970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KẾT NỘI DUNG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Quyết định và Tờ trình: bố cục và mục đích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Các loại Công văn và phần trích yếu đặc trưng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Biên bản: ghi nhận và xác nhận sự việc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Báo cáo: tổng hợp, đánh giá có số liệu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Quyết định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Công văn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Biên bản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Báo cáo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2" name="Google Shape;472;p1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73" name="Google Shape;473;p1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7" name="Google Shape;477;p1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8" name="Google Shape;478;p11"/>
          <p:cNvSpPr/>
          <p:nvPr/>
        </p:nvSpPr>
        <p:spPr>
          <a:xfrm>
            <a:off x="1028700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9" name="Google Shape;479;p11"/>
          <p:cNvSpPr/>
          <p:nvPr/>
        </p:nvSpPr>
        <p:spPr>
          <a:xfrm>
            <a:off x="7095005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0" name="Google Shape;480;p11"/>
          <p:cNvSpPr txBox="1"/>
          <p:nvPr/>
        </p:nvSpPr>
        <p:spPr>
          <a:xfrm>
            <a:off x="1491585" y="109647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2426917" y="3217794"/>
            <a:ext cx="13434166" cy="120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CẢM ƠN ANH/CHỊ ĐÃ THEO DÕI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3318670" y="4484320"/>
            <a:ext cx="1135185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D400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3468075" y="5432357"/>
            <a:ext cx="11351851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2162938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fel@vlute.edu.vn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386332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550</Words>
  <Application>Microsoft Office PowerPoint</Application>
  <PresentationFormat>Custom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NGA</dc:creator>
  <cp:lastModifiedBy>Macbook</cp:lastModifiedBy>
  <cp:revision>2</cp:revision>
  <dcterms:created xsi:type="dcterms:W3CDTF">2006-08-16T00:00:00Z</dcterms:created>
  <dcterms:modified xsi:type="dcterms:W3CDTF">2026-06-04T10:53:06Z</dcterms:modified>
</cp:coreProperties>
</file>